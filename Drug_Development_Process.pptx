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6.png"/><Relationship Id="rId7" Type="http://schemas.openxmlformats.org/officeDocument/2006/relationships/image" Target="../media/image21.png"/><Relationship Id="rId6" Type="http://schemas.openxmlformats.org/officeDocument/2006/relationships/image" Target="../media/image25.png"/><Relationship Id="rId5" Type="http://schemas.openxmlformats.org/officeDocument/2006/relationships/image" Target="../media/image14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2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6263640" y="502920"/>
            <a:ext cx="274320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MAWLANA BHASHANI SCIENCE AND TECHNOLOGY UNIVERSITY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Biotechnology &amp; Genetic Engineering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64008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Drug Development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48640" y="306324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Target Identification to Final FDA Approval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730625"/>
            <a:ext cx="8092440" cy="1325880"/>
          </a:xfrm>
          <a:prstGeom prst="roundRect">
            <a:avLst>
              <a:gd name="adj" fmla="val 5517"/>
            </a:avLst>
          </a:prstGeom>
          <a:solidFill>
            <a:srgbClr val="0F4D4B"/>
          </a:solidFill>
        </p:spPr>
      </p:sp>
      <p:sp>
        <p:nvSpPr>
          <p:cNvPr id="8" name="Text 5"/>
          <p:cNvSpPr/>
          <p:nvPr/>
        </p:nvSpPr>
        <p:spPr>
          <a:xfrm>
            <a:off x="777240" y="3989705"/>
            <a:ext cx="3953510" cy="737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 </a:t>
            </a:r>
            <a:endParaRPr lang="en-US" sz="2000" b="1" kern="0" spc="200" dirty="0">
              <a:solidFill>
                <a:srgbClr val="F4A2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2000" b="1" kern="0" spc="200" dirty="0">
              <a:solidFill>
                <a:srgbClr val="F4A2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2000" b="1" kern="0" spc="200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Md. Mahmudul Hasan</a:t>
            </a:r>
            <a:endParaRPr lang="en-US" sz="2000" b="1" kern="0" spc="200" dirty="0">
              <a:solidFill>
                <a:srgbClr val="F4A2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" y="4023360"/>
            <a:ext cx="3931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74920" y="4084955"/>
            <a:ext cx="3931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12 Stages of Drug Development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approved medicine travels through these milestones — from a molecular idea in the lab to a product on the pharmacy shelf.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F5FAF9"/>
          </a:solidFill>
        </p:spPr>
      </p:sp>
      <p:sp>
        <p:nvSpPr>
          <p:cNvPr id="6" name="Shape 4"/>
          <p:cNvSpPr/>
          <p:nvPr/>
        </p:nvSpPr>
        <p:spPr>
          <a:xfrm>
            <a:off x="658368" y="1655064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40" y="1747236"/>
            <a:ext cx="199705" cy="1997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645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1600200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Identification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167128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F5FAF9"/>
          </a:solidFill>
        </p:spPr>
      </p:sp>
      <p:sp>
        <p:nvSpPr>
          <p:cNvPr id="11" name="Shape 8"/>
          <p:cNvSpPr/>
          <p:nvPr/>
        </p:nvSpPr>
        <p:spPr>
          <a:xfrm>
            <a:off x="658368" y="2221992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40" y="2314164"/>
            <a:ext cx="199705" cy="1997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22128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508760" y="216712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Validation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2734056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F5FAF9"/>
          </a:solidFill>
        </p:spPr>
      </p:sp>
      <p:sp>
        <p:nvSpPr>
          <p:cNvPr id="16" name="Shape 12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40" y="2881092"/>
            <a:ext cx="199705" cy="19970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15568" y="277977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508760" y="2734056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Identification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3300984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F5FAF9"/>
          </a:solidFill>
        </p:spPr>
      </p:sp>
      <p:sp>
        <p:nvSpPr>
          <p:cNvPr id="21" name="Shape 16"/>
          <p:cNvSpPr/>
          <p:nvPr/>
        </p:nvSpPr>
        <p:spPr>
          <a:xfrm>
            <a:off x="658368" y="33558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40" y="3448020"/>
            <a:ext cx="199705" cy="19970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33467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508760" y="33009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Optimization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3867912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F5FAF9"/>
          </a:solidFill>
        </p:spPr>
      </p:sp>
      <p:sp>
        <p:nvSpPr>
          <p:cNvPr id="26" name="Shape 20"/>
          <p:cNvSpPr/>
          <p:nvPr/>
        </p:nvSpPr>
        <p:spPr>
          <a:xfrm>
            <a:off x="658368" y="3922776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40" y="4014948"/>
            <a:ext cx="199705" cy="19970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15568" y="39136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1508760" y="386791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Characterization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F5FAF9"/>
          </a:solidFill>
        </p:spPr>
      </p:sp>
      <p:sp>
        <p:nvSpPr>
          <p:cNvPr id="31" name="Shape 24"/>
          <p:cNvSpPr/>
          <p:nvPr/>
        </p:nvSpPr>
        <p:spPr>
          <a:xfrm>
            <a:off x="658368" y="4489704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40" y="4581876"/>
            <a:ext cx="199705" cy="19970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15568" y="4480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1508760" y="4434840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Formulation &amp; Development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4983480" y="1600200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F5FAF9"/>
          </a:solidFill>
        </p:spPr>
      </p:sp>
      <p:sp>
        <p:nvSpPr>
          <p:cNvPr id="36" name="Shape 28"/>
          <p:cNvSpPr/>
          <p:nvPr/>
        </p:nvSpPr>
        <p:spPr>
          <a:xfrm>
            <a:off x="5093208" y="1655064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5380" y="1747236"/>
            <a:ext cx="199705" cy="19970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550408" y="1645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0"/>
          <p:cNvSpPr/>
          <p:nvPr/>
        </p:nvSpPr>
        <p:spPr>
          <a:xfrm>
            <a:off x="5943600" y="1600200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Preclinical Research</a:t>
            </a:r>
            <a:endParaRPr lang="en-US" sz="1400" dirty="0"/>
          </a:p>
        </p:txBody>
      </p:sp>
      <p:sp>
        <p:nvSpPr>
          <p:cNvPr id="40" name="Shape 31"/>
          <p:cNvSpPr/>
          <p:nvPr/>
        </p:nvSpPr>
        <p:spPr>
          <a:xfrm>
            <a:off x="4983480" y="2167128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F5FAF9"/>
          </a:solidFill>
        </p:spPr>
      </p:sp>
      <p:sp>
        <p:nvSpPr>
          <p:cNvPr id="41" name="Shape 32"/>
          <p:cNvSpPr/>
          <p:nvPr/>
        </p:nvSpPr>
        <p:spPr>
          <a:xfrm>
            <a:off x="5093208" y="2221992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5380" y="2314164"/>
            <a:ext cx="199705" cy="199705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550408" y="22128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1800" dirty="0"/>
          </a:p>
        </p:txBody>
      </p:sp>
      <p:sp>
        <p:nvSpPr>
          <p:cNvPr id="44" name="Text 34"/>
          <p:cNvSpPr/>
          <p:nvPr/>
        </p:nvSpPr>
        <p:spPr>
          <a:xfrm>
            <a:off x="5943600" y="216712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 Application</a:t>
            </a:r>
            <a:endParaRPr lang="en-US" sz="1400" dirty="0"/>
          </a:p>
        </p:txBody>
      </p:sp>
      <p:sp>
        <p:nvSpPr>
          <p:cNvPr id="45" name="Shape 35"/>
          <p:cNvSpPr/>
          <p:nvPr/>
        </p:nvSpPr>
        <p:spPr>
          <a:xfrm>
            <a:off x="4983480" y="2734056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F5FAF9"/>
          </a:solidFill>
        </p:spPr>
      </p:sp>
      <p:sp>
        <p:nvSpPr>
          <p:cNvPr id="46" name="Shape 36"/>
          <p:cNvSpPr/>
          <p:nvPr/>
        </p:nvSpPr>
        <p:spPr>
          <a:xfrm>
            <a:off x="5093208" y="2788920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5380" y="2881092"/>
            <a:ext cx="199705" cy="199705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550408" y="277977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1800" dirty="0"/>
          </a:p>
        </p:txBody>
      </p:sp>
      <p:sp>
        <p:nvSpPr>
          <p:cNvPr id="49" name="Text 38"/>
          <p:cNvSpPr/>
          <p:nvPr/>
        </p:nvSpPr>
        <p:spPr>
          <a:xfrm>
            <a:off x="5943600" y="2734056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Trials</a:t>
            </a:r>
            <a:endParaRPr lang="en-US" sz="1400" dirty="0"/>
          </a:p>
        </p:txBody>
      </p:sp>
      <p:sp>
        <p:nvSpPr>
          <p:cNvPr id="50" name="Shape 39"/>
          <p:cNvSpPr/>
          <p:nvPr/>
        </p:nvSpPr>
        <p:spPr>
          <a:xfrm>
            <a:off x="4983480" y="3300984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F5FAF9"/>
          </a:solidFill>
        </p:spPr>
      </p:sp>
      <p:sp>
        <p:nvSpPr>
          <p:cNvPr id="51" name="Shape 40"/>
          <p:cNvSpPr/>
          <p:nvPr/>
        </p:nvSpPr>
        <p:spPr>
          <a:xfrm>
            <a:off x="5093208" y="33558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5380" y="3448020"/>
            <a:ext cx="199705" cy="199705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5550408" y="33467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1800" dirty="0"/>
          </a:p>
        </p:txBody>
      </p:sp>
      <p:sp>
        <p:nvSpPr>
          <p:cNvPr id="54" name="Text 42"/>
          <p:cNvSpPr/>
          <p:nvPr/>
        </p:nvSpPr>
        <p:spPr>
          <a:xfrm>
            <a:off x="5943600" y="33009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Drug Application</a:t>
            </a:r>
            <a:endParaRPr lang="en-US" sz="1400" dirty="0"/>
          </a:p>
        </p:txBody>
      </p:sp>
      <p:sp>
        <p:nvSpPr>
          <p:cNvPr id="55" name="Shape 43"/>
          <p:cNvSpPr/>
          <p:nvPr/>
        </p:nvSpPr>
        <p:spPr>
          <a:xfrm>
            <a:off x="4983480" y="3867912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F5FAF9"/>
          </a:solidFill>
        </p:spPr>
      </p:sp>
      <p:sp>
        <p:nvSpPr>
          <p:cNvPr id="56" name="Shape 44"/>
          <p:cNvSpPr/>
          <p:nvPr/>
        </p:nvSpPr>
        <p:spPr>
          <a:xfrm>
            <a:off x="5093208" y="3922776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5380" y="4014948"/>
            <a:ext cx="199705" cy="199705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5550408" y="39136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</a:t>
            </a:r>
            <a:endParaRPr lang="en-US" sz="1800" dirty="0"/>
          </a:p>
        </p:txBody>
      </p:sp>
      <p:sp>
        <p:nvSpPr>
          <p:cNvPr id="59" name="Text 46"/>
          <p:cNvSpPr/>
          <p:nvPr/>
        </p:nvSpPr>
        <p:spPr>
          <a:xfrm>
            <a:off x="5943600" y="386791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FDA Review</a:t>
            </a:r>
            <a:endParaRPr lang="en-US" sz="1400" dirty="0"/>
          </a:p>
        </p:txBody>
      </p:sp>
      <p:sp>
        <p:nvSpPr>
          <p:cNvPr id="60" name="Shape 47"/>
          <p:cNvSpPr/>
          <p:nvPr/>
        </p:nvSpPr>
        <p:spPr>
          <a:xfrm>
            <a:off x="4983480" y="4434840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F5FAF9"/>
          </a:solidFill>
        </p:spPr>
      </p:sp>
      <p:sp>
        <p:nvSpPr>
          <p:cNvPr id="61" name="Shape 48"/>
          <p:cNvSpPr/>
          <p:nvPr/>
        </p:nvSpPr>
        <p:spPr>
          <a:xfrm>
            <a:off x="5093208" y="4489704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85380" y="4581876"/>
            <a:ext cx="199705" cy="199705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5550408" y="4480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1800" dirty="0"/>
          </a:p>
        </p:txBody>
      </p:sp>
      <p:sp>
        <p:nvSpPr>
          <p:cNvPr id="64" name="Text 50"/>
          <p:cNvSpPr/>
          <p:nvPr/>
        </p:nvSpPr>
        <p:spPr>
          <a:xfrm>
            <a:off x="5943600" y="4434840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FDA Approval</a:t>
            </a:r>
            <a:endParaRPr lang="en-US" sz="1400" dirty="0"/>
          </a:p>
        </p:txBody>
      </p:sp>
      <p:sp>
        <p:nvSpPr>
          <p:cNvPr id="65" name="Text 51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Drug Development Takes So Long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138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a scientific discovery into a safe, effective, marketable medicine is one of the most rigorous processes in industry — combining molecular biology, chemistry, animal studies, human trials and strict government regulation.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938528" cy="2514600"/>
          </a:xfrm>
          <a:prstGeom prst="roundRect">
            <a:avLst>
              <a:gd name="adj" fmla="val 3302"/>
            </a:avLst>
          </a:prstGeom>
          <a:solidFill>
            <a:srgbClr val="E3F2F0"/>
          </a:solidFill>
          <a:effectLst>
            <a:outerShdw blurRad="63500" dist="25400" dir="5400000" algn="bl" rotWithShape="0">
              <a:srgbClr val="0B3D3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66444" y="2075688"/>
            <a:ext cx="502920" cy="50292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145" y="219638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97480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10-15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3172968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58368" y="3502152"/>
            <a:ext cx="17190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time from initial discovery to market approval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51760" y="1874520"/>
            <a:ext cx="1938528" cy="2514600"/>
          </a:xfrm>
          <a:prstGeom prst="roundRect">
            <a:avLst>
              <a:gd name="adj" fmla="val 3302"/>
            </a:avLst>
          </a:prstGeom>
          <a:solidFill>
            <a:srgbClr val="E3F2F0"/>
          </a:solidFill>
          <a:effectLst>
            <a:outerShdw blurRad="63500" dist="25400" dir="5400000" algn="bl" rotWithShape="0">
              <a:srgbClr val="0B3D3C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69564" y="2075688"/>
            <a:ext cx="502920" cy="50292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265" y="2196389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51760" y="2697480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$1-2.6B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2651760" y="3172968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USD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761488" y="3502152"/>
            <a:ext cx="17190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Estimated total cost of developing one new biopharmaceutical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54880" y="1874520"/>
            <a:ext cx="1938528" cy="2514600"/>
          </a:xfrm>
          <a:prstGeom prst="roundRect">
            <a:avLst>
              <a:gd name="adj" fmla="val 3302"/>
            </a:avLst>
          </a:prstGeom>
          <a:solidFill>
            <a:srgbClr val="E3F2F0"/>
          </a:solidFill>
          <a:effectLst>
            <a:outerShdw blurRad="63500" dist="25400" dir="5400000" algn="bl" rotWithShape="0">
              <a:srgbClr val="0B3D3C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72684" y="2075688"/>
            <a:ext cx="502920" cy="50292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385" y="2196389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54880" y="2697480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~10%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4754880" y="3172968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Survival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864608" y="3502152"/>
            <a:ext cx="17190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candidates entering preclinical trials reach the market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858000" y="1874520"/>
            <a:ext cx="1938528" cy="2514600"/>
          </a:xfrm>
          <a:prstGeom prst="roundRect">
            <a:avLst>
              <a:gd name="adj" fmla="val 3302"/>
            </a:avLst>
          </a:prstGeom>
          <a:solidFill>
            <a:srgbClr val="E3F2F0"/>
          </a:solidFill>
          <a:effectLst>
            <a:outerShdw blurRad="63500" dist="25400" dir="5400000" algn="bl" rotWithShape="0">
              <a:srgbClr val="0B3D3C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575804" y="2075688"/>
            <a:ext cx="502920" cy="50292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505" y="2196389"/>
            <a:ext cx="261518" cy="26151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58000" y="2697480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6858000" y="3172968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Phases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967728" y="3502152"/>
            <a:ext cx="17190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I, II &amp; III trials required before marketing approval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End-to-End Drug Development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0F4D4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5270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012" y="1619220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2024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" y="21945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Identification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851660" y="2071116"/>
            <a:ext cx="91440" cy="45720"/>
          </a:xfrm>
          <a:prstGeom prst="rightArrow">
            <a:avLst/>
          </a:prstGeom>
          <a:solidFill>
            <a:srgbClr val="F4A259"/>
          </a:solidFill>
        </p:spPr>
      </p:sp>
      <p:sp>
        <p:nvSpPr>
          <p:cNvPr id="10" name="Shape 7"/>
          <p:cNvSpPr/>
          <p:nvPr/>
        </p:nvSpPr>
        <p:spPr>
          <a:xfrm>
            <a:off x="1938528" y="1417320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0F4D4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95728" y="15270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900" y="1619220"/>
            <a:ext cx="199705" cy="1997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38528" y="192024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993392" y="21945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Validation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41548" y="2071116"/>
            <a:ext cx="91440" cy="45720"/>
          </a:xfrm>
          <a:prstGeom prst="rightArrow">
            <a:avLst/>
          </a:prstGeom>
          <a:solidFill>
            <a:srgbClr val="F4A259"/>
          </a:solidFill>
        </p:spPr>
      </p:sp>
      <p:sp>
        <p:nvSpPr>
          <p:cNvPr id="16" name="Shape 12"/>
          <p:cNvSpPr/>
          <p:nvPr/>
        </p:nvSpPr>
        <p:spPr>
          <a:xfrm>
            <a:off x="3328416" y="1417320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0F4D4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85616" y="15270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788" y="1619220"/>
            <a:ext cx="199705" cy="19970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28416" y="192024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383280" y="21945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Identification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31436" y="2071116"/>
            <a:ext cx="91440" cy="45720"/>
          </a:xfrm>
          <a:prstGeom prst="rightArrow">
            <a:avLst/>
          </a:prstGeom>
          <a:solidFill>
            <a:srgbClr val="F4A259"/>
          </a:solidFill>
        </p:spPr>
      </p:sp>
      <p:sp>
        <p:nvSpPr>
          <p:cNvPr id="22" name="Shape 17"/>
          <p:cNvSpPr/>
          <p:nvPr/>
        </p:nvSpPr>
        <p:spPr>
          <a:xfrm>
            <a:off x="4718304" y="1417320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0F4D4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175504" y="15270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676" y="1619220"/>
            <a:ext cx="199705" cy="19970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718304" y="192024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773168" y="21945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Optimization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021324" y="2071116"/>
            <a:ext cx="91440" cy="45720"/>
          </a:xfrm>
          <a:prstGeom prst="rightArrow">
            <a:avLst/>
          </a:prstGeom>
          <a:solidFill>
            <a:srgbClr val="F4A259"/>
          </a:solidFill>
        </p:spPr>
      </p:sp>
      <p:sp>
        <p:nvSpPr>
          <p:cNvPr id="28" name="Shape 22"/>
          <p:cNvSpPr/>
          <p:nvPr/>
        </p:nvSpPr>
        <p:spPr>
          <a:xfrm>
            <a:off x="6108192" y="1417320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0F4D4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565392" y="15270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564" y="1619220"/>
            <a:ext cx="199705" cy="19970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108192" y="192024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163056" y="21945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Characterization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7411212" y="2071116"/>
            <a:ext cx="91440" cy="45720"/>
          </a:xfrm>
          <a:prstGeom prst="rightArrow">
            <a:avLst/>
          </a:prstGeom>
          <a:solidFill>
            <a:srgbClr val="F4A259"/>
          </a:solidFill>
        </p:spPr>
      </p:sp>
      <p:sp>
        <p:nvSpPr>
          <p:cNvPr id="34" name="Shape 27"/>
          <p:cNvSpPr/>
          <p:nvPr/>
        </p:nvSpPr>
        <p:spPr>
          <a:xfrm>
            <a:off x="7498080" y="1417320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0F4D4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7955280" y="15270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7452" y="1619220"/>
            <a:ext cx="199705" cy="19970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498080" y="192024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7552944" y="21945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Formulation &amp; Development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7498080" y="3246120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0F4D4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955280" y="33558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7452" y="3448020"/>
            <a:ext cx="199705" cy="199705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498080" y="374904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7552944" y="40233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Preclinical Research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8801100" y="3899916"/>
            <a:ext cx="91440" cy="109728"/>
          </a:xfrm>
          <a:prstGeom prst="leftArrow">
            <a:avLst/>
          </a:prstGeom>
          <a:solidFill>
            <a:srgbClr val="F4A259"/>
          </a:solidFill>
        </p:spPr>
      </p:sp>
      <p:sp>
        <p:nvSpPr>
          <p:cNvPr id="45" name="Shape 36"/>
          <p:cNvSpPr/>
          <p:nvPr/>
        </p:nvSpPr>
        <p:spPr>
          <a:xfrm>
            <a:off x="6108192" y="3246120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0F4D4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6565392" y="33558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7564" y="3448020"/>
            <a:ext cx="199705" cy="199705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108192" y="374904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39"/>
          <p:cNvSpPr/>
          <p:nvPr/>
        </p:nvSpPr>
        <p:spPr>
          <a:xfrm>
            <a:off x="6163056" y="40233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 Application</a:t>
            </a:r>
            <a:endParaRPr lang="en-US" sz="950" dirty="0"/>
          </a:p>
        </p:txBody>
      </p:sp>
      <p:sp>
        <p:nvSpPr>
          <p:cNvPr id="50" name="Shape 40"/>
          <p:cNvSpPr/>
          <p:nvPr/>
        </p:nvSpPr>
        <p:spPr>
          <a:xfrm>
            <a:off x="7411212" y="3899916"/>
            <a:ext cx="91440" cy="109728"/>
          </a:xfrm>
          <a:prstGeom prst="leftArrow">
            <a:avLst/>
          </a:prstGeom>
          <a:solidFill>
            <a:srgbClr val="F4A259"/>
          </a:solidFill>
        </p:spPr>
      </p:sp>
      <p:sp>
        <p:nvSpPr>
          <p:cNvPr id="51" name="Shape 41"/>
          <p:cNvSpPr/>
          <p:nvPr/>
        </p:nvSpPr>
        <p:spPr>
          <a:xfrm>
            <a:off x="4718304" y="3246120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0F4D4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5175504" y="33558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7676" y="3448020"/>
            <a:ext cx="199705" cy="199705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4718304" y="374904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1300" dirty="0"/>
          </a:p>
        </p:txBody>
      </p:sp>
      <p:sp>
        <p:nvSpPr>
          <p:cNvPr id="55" name="Text 44"/>
          <p:cNvSpPr/>
          <p:nvPr/>
        </p:nvSpPr>
        <p:spPr>
          <a:xfrm>
            <a:off x="4773168" y="40233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Trials</a:t>
            </a:r>
            <a:endParaRPr lang="en-US" sz="950" dirty="0"/>
          </a:p>
        </p:txBody>
      </p:sp>
      <p:sp>
        <p:nvSpPr>
          <p:cNvPr id="56" name="Shape 45"/>
          <p:cNvSpPr/>
          <p:nvPr/>
        </p:nvSpPr>
        <p:spPr>
          <a:xfrm>
            <a:off x="6021324" y="3899916"/>
            <a:ext cx="91440" cy="109728"/>
          </a:xfrm>
          <a:prstGeom prst="leftArrow">
            <a:avLst/>
          </a:prstGeom>
          <a:solidFill>
            <a:srgbClr val="F4A259"/>
          </a:solidFill>
        </p:spPr>
      </p:sp>
      <p:sp>
        <p:nvSpPr>
          <p:cNvPr id="57" name="Shape 46"/>
          <p:cNvSpPr/>
          <p:nvPr/>
        </p:nvSpPr>
        <p:spPr>
          <a:xfrm>
            <a:off x="3328416" y="3246120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0F4D4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3785616" y="33558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7788" y="3448020"/>
            <a:ext cx="199705" cy="199705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3328416" y="374904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1300" dirty="0"/>
          </a:p>
        </p:txBody>
      </p:sp>
      <p:sp>
        <p:nvSpPr>
          <p:cNvPr id="61" name="Text 49"/>
          <p:cNvSpPr/>
          <p:nvPr/>
        </p:nvSpPr>
        <p:spPr>
          <a:xfrm>
            <a:off x="3383280" y="40233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Drug Application</a:t>
            </a:r>
            <a:endParaRPr lang="en-US" sz="950" dirty="0"/>
          </a:p>
        </p:txBody>
      </p:sp>
      <p:sp>
        <p:nvSpPr>
          <p:cNvPr id="62" name="Shape 50"/>
          <p:cNvSpPr/>
          <p:nvPr/>
        </p:nvSpPr>
        <p:spPr>
          <a:xfrm>
            <a:off x="4631436" y="3899916"/>
            <a:ext cx="91440" cy="109728"/>
          </a:xfrm>
          <a:prstGeom prst="leftArrow">
            <a:avLst/>
          </a:prstGeom>
          <a:solidFill>
            <a:srgbClr val="F4A259"/>
          </a:solidFill>
        </p:spPr>
      </p:sp>
      <p:sp>
        <p:nvSpPr>
          <p:cNvPr id="63" name="Shape 51"/>
          <p:cNvSpPr/>
          <p:nvPr/>
        </p:nvSpPr>
        <p:spPr>
          <a:xfrm>
            <a:off x="1938528" y="3246120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0F4D4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2395728" y="33558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87900" y="3448020"/>
            <a:ext cx="199705" cy="199705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1938528" y="374904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</a:t>
            </a:r>
            <a:endParaRPr lang="en-US" sz="1300" dirty="0"/>
          </a:p>
        </p:txBody>
      </p:sp>
      <p:sp>
        <p:nvSpPr>
          <p:cNvPr id="67" name="Text 54"/>
          <p:cNvSpPr/>
          <p:nvPr/>
        </p:nvSpPr>
        <p:spPr>
          <a:xfrm>
            <a:off x="1993392" y="40233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FDA Review</a:t>
            </a:r>
            <a:endParaRPr lang="en-US" sz="950" dirty="0"/>
          </a:p>
        </p:txBody>
      </p:sp>
      <p:sp>
        <p:nvSpPr>
          <p:cNvPr id="68" name="Shape 55"/>
          <p:cNvSpPr/>
          <p:nvPr/>
        </p:nvSpPr>
        <p:spPr>
          <a:xfrm>
            <a:off x="3241548" y="3899916"/>
            <a:ext cx="91440" cy="109728"/>
          </a:xfrm>
          <a:prstGeom prst="leftArrow">
            <a:avLst/>
          </a:prstGeom>
          <a:solidFill>
            <a:srgbClr val="F4A259"/>
          </a:solidFill>
        </p:spPr>
      </p:sp>
      <p:sp>
        <p:nvSpPr>
          <p:cNvPr id="69" name="Shape 56"/>
          <p:cNvSpPr/>
          <p:nvPr/>
        </p:nvSpPr>
        <p:spPr>
          <a:xfrm>
            <a:off x="548640" y="3246120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0F4D4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0" name="Shape 57"/>
          <p:cNvSpPr/>
          <p:nvPr/>
        </p:nvSpPr>
        <p:spPr>
          <a:xfrm>
            <a:off x="1005840" y="3355848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8012" y="3448020"/>
            <a:ext cx="199705" cy="199705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548640" y="374904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1300" dirty="0"/>
          </a:p>
        </p:txBody>
      </p:sp>
      <p:sp>
        <p:nvSpPr>
          <p:cNvPr id="73" name="Text 59"/>
          <p:cNvSpPr/>
          <p:nvPr/>
        </p:nvSpPr>
        <p:spPr>
          <a:xfrm>
            <a:off x="603504" y="40233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FDA Approval</a:t>
            </a:r>
            <a:endParaRPr lang="en-US" sz="950" dirty="0"/>
          </a:p>
        </p:txBody>
      </p:sp>
      <p:sp>
        <p:nvSpPr>
          <p:cNvPr id="74" name="Shape 60"/>
          <p:cNvSpPr/>
          <p:nvPr/>
        </p:nvSpPr>
        <p:spPr>
          <a:xfrm>
            <a:off x="8092440" y="2852928"/>
            <a:ext cx="109728" cy="384048"/>
          </a:xfrm>
          <a:prstGeom prst="downArrow">
            <a:avLst/>
          </a:prstGeom>
          <a:solidFill>
            <a:srgbClr val="F4A259"/>
          </a:solidFill>
        </p:spPr>
      </p:sp>
      <p:sp>
        <p:nvSpPr>
          <p:cNvPr id="75" name="Text 61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FD8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Discovery &amp; Design  →  Development &amp; Safety  →  Regulatory Approval</a:t>
            </a:r>
            <a:endParaRPr lang="en-US" sz="1250" dirty="0"/>
          </a:p>
        </p:txBody>
      </p:sp>
      <p:sp>
        <p:nvSpPr>
          <p:cNvPr id="76" name="Text 62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01 —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Target Identification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20624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“target” is a molecule (usually a protein) whose activity is linked to a disease.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biopharmaceutical discovery today is knowledge-based — driven by genomics.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Genome sequencing reveals the full set of proteins an organism can produce.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genomics then assigns a biological role to each gene product.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4206240" cy="1234440"/>
          </a:xfrm>
          <a:prstGeom prst="roundRect">
            <a:avLst>
              <a:gd name="adj" fmla="val 5185"/>
            </a:avLst>
          </a:prstGeom>
          <a:solidFill>
            <a:srgbClr val="0B3D3C"/>
          </a:solidFill>
        </p:spPr>
      </p:sp>
      <p:sp>
        <p:nvSpPr>
          <p:cNvPr id="6" name="Text 4"/>
          <p:cNvSpPr/>
          <p:nvPr/>
        </p:nvSpPr>
        <p:spPr>
          <a:xfrm>
            <a:off x="777240" y="3639312"/>
            <a:ext cx="3749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3,000 – 10,000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protein-based drug targets are estimated to be hidden in the human genome sequence.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74920" y="1143000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E3F2F0"/>
          </a:solidFill>
        </p:spPr>
      </p:sp>
      <p:sp>
        <p:nvSpPr>
          <p:cNvPr id="8" name="Shape 6"/>
          <p:cNvSpPr/>
          <p:nvPr/>
        </p:nvSpPr>
        <p:spPr>
          <a:xfrm>
            <a:off x="5212080" y="1307592"/>
            <a:ext cx="548640" cy="548640"/>
          </a:xfrm>
          <a:prstGeom prst="ellipse">
            <a:avLst/>
          </a:prstGeom>
          <a:solidFill>
            <a:srgbClr val="1B998B"/>
          </a:solidFill>
        </p:spPr>
      </p:sp>
      <p:sp>
        <p:nvSpPr>
          <p:cNvPr id="9" name="Text 7"/>
          <p:cNvSpPr/>
          <p:nvPr/>
        </p:nvSpPr>
        <p:spPr>
          <a:xfrm>
            <a:off x="5212080" y="13075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97880" y="114300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Genome Sequencing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the entire DNA sequence of an organism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71132" y="2029968"/>
            <a:ext cx="128016" cy="164592"/>
          </a:xfrm>
          <a:prstGeom prst="downArrow">
            <a:avLst/>
          </a:prstGeom>
          <a:solidFill>
            <a:srgbClr val="F4A259"/>
          </a:solidFill>
        </p:spPr>
      </p:sp>
      <p:sp>
        <p:nvSpPr>
          <p:cNvPr id="12" name="Shape 10"/>
          <p:cNvSpPr/>
          <p:nvPr/>
        </p:nvSpPr>
        <p:spPr>
          <a:xfrm>
            <a:off x="5074920" y="2176272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E3F2F0"/>
          </a:solidFill>
        </p:spPr>
      </p:sp>
      <p:sp>
        <p:nvSpPr>
          <p:cNvPr id="13" name="Shape 11"/>
          <p:cNvSpPr/>
          <p:nvPr/>
        </p:nvSpPr>
        <p:spPr>
          <a:xfrm>
            <a:off x="5212080" y="2340864"/>
            <a:ext cx="548640" cy="548640"/>
          </a:xfrm>
          <a:prstGeom prst="ellipse">
            <a:avLst/>
          </a:prstGeom>
          <a:solidFill>
            <a:srgbClr val="1B998B"/>
          </a:solidFill>
        </p:spPr>
      </p:sp>
      <p:sp>
        <p:nvSpPr>
          <p:cNvPr id="14" name="Text 12"/>
          <p:cNvSpPr/>
          <p:nvPr/>
        </p:nvSpPr>
        <p:spPr>
          <a:xfrm>
            <a:off x="5212080" y="234086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97880" y="2176272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Genomics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 biological function to gene products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71132" y="3063240"/>
            <a:ext cx="128016" cy="164592"/>
          </a:xfrm>
          <a:prstGeom prst="downArrow">
            <a:avLst/>
          </a:prstGeom>
          <a:solidFill>
            <a:srgbClr val="F4A259"/>
          </a:solidFill>
        </p:spPr>
      </p:sp>
      <p:sp>
        <p:nvSpPr>
          <p:cNvPr id="17" name="Shape 15"/>
          <p:cNvSpPr/>
          <p:nvPr/>
        </p:nvSpPr>
        <p:spPr>
          <a:xfrm>
            <a:off x="5074920" y="3209544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E3F2F0"/>
          </a:solidFill>
        </p:spPr>
      </p:sp>
      <p:sp>
        <p:nvSpPr>
          <p:cNvPr id="18" name="Shape 16"/>
          <p:cNvSpPr/>
          <p:nvPr/>
        </p:nvSpPr>
        <p:spPr>
          <a:xfrm>
            <a:off x="5212080" y="3374136"/>
            <a:ext cx="548640" cy="548640"/>
          </a:xfrm>
          <a:prstGeom prst="ellipse">
            <a:avLst/>
          </a:prstGeom>
          <a:solidFill>
            <a:srgbClr val="1B998B"/>
          </a:solidFill>
        </p:spPr>
      </p:sp>
      <p:sp>
        <p:nvSpPr>
          <p:cNvPr id="19" name="Text 17"/>
          <p:cNvSpPr/>
          <p:nvPr/>
        </p:nvSpPr>
        <p:spPr>
          <a:xfrm>
            <a:off x="5212080" y="337413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897880" y="3209544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Candidate Drug Targets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Enzymes, receptors, ion channels, hormones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74920" y="4370832"/>
            <a:ext cx="811530" cy="384048"/>
          </a:xfrm>
          <a:prstGeom prst="roundRect">
            <a:avLst>
              <a:gd name="adj" fmla="val 11905"/>
            </a:avLst>
          </a:prstGeom>
          <a:solidFill>
            <a:srgbClr val="F4A259"/>
          </a:solidFill>
        </p:spPr>
      </p:sp>
      <p:sp>
        <p:nvSpPr>
          <p:cNvPr id="22" name="Text 20"/>
          <p:cNvSpPr/>
          <p:nvPr/>
        </p:nvSpPr>
        <p:spPr>
          <a:xfrm>
            <a:off x="5074920" y="4370832"/>
            <a:ext cx="81153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Enzymes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77890" y="4370832"/>
            <a:ext cx="811530" cy="384048"/>
          </a:xfrm>
          <a:prstGeom prst="roundRect">
            <a:avLst>
              <a:gd name="adj" fmla="val 11905"/>
            </a:avLst>
          </a:prstGeom>
          <a:solidFill>
            <a:srgbClr val="F4A259"/>
          </a:solidFill>
        </p:spPr>
      </p:sp>
      <p:sp>
        <p:nvSpPr>
          <p:cNvPr id="24" name="Text 22"/>
          <p:cNvSpPr/>
          <p:nvPr/>
        </p:nvSpPr>
        <p:spPr>
          <a:xfrm>
            <a:off x="5977890" y="4370832"/>
            <a:ext cx="81153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Receptors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80860" y="4370832"/>
            <a:ext cx="811530" cy="384048"/>
          </a:xfrm>
          <a:prstGeom prst="roundRect">
            <a:avLst>
              <a:gd name="adj" fmla="val 11905"/>
            </a:avLst>
          </a:prstGeom>
          <a:solidFill>
            <a:srgbClr val="F4A259"/>
          </a:solidFill>
        </p:spPr>
      </p:sp>
      <p:sp>
        <p:nvSpPr>
          <p:cNvPr id="26" name="Text 24"/>
          <p:cNvSpPr/>
          <p:nvPr/>
        </p:nvSpPr>
        <p:spPr>
          <a:xfrm>
            <a:off x="6880860" y="4370832"/>
            <a:ext cx="81153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Ion Channels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83830" y="4370832"/>
            <a:ext cx="811530" cy="384048"/>
          </a:xfrm>
          <a:prstGeom prst="roundRect">
            <a:avLst>
              <a:gd name="adj" fmla="val 11905"/>
            </a:avLst>
          </a:prstGeom>
          <a:solidFill>
            <a:srgbClr val="F4A259"/>
          </a:solidFill>
        </p:spPr>
      </p:sp>
      <p:sp>
        <p:nvSpPr>
          <p:cNvPr id="28" name="Text 26"/>
          <p:cNvSpPr/>
          <p:nvPr/>
        </p:nvSpPr>
        <p:spPr>
          <a:xfrm>
            <a:off x="7783830" y="4370832"/>
            <a:ext cx="81153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Nuclear Receptors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02 —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Target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resources are committed, the candidate target must be proven to play a genuine, modifiable role in the disease process.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5FAF9"/>
          </a:solidFill>
        </p:spPr>
      </p:sp>
      <p:sp>
        <p:nvSpPr>
          <p:cNvPr id="6" name="Shape 4"/>
          <p:cNvSpPr/>
          <p:nvPr/>
        </p:nvSpPr>
        <p:spPr>
          <a:xfrm>
            <a:off x="713232" y="1920240"/>
            <a:ext cx="502920" cy="50292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204094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91640"/>
            <a:ext cx="29718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Knockout Animal Studies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 of interest deleted in mice; resulting phenotype reveals the gene's function.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54880" y="160020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5FAF9"/>
          </a:solidFill>
        </p:spPr>
      </p:sp>
      <p:sp>
        <p:nvSpPr>
          <p:cNvPr id="10" name="Shape 7"/>
          <p:cNvSpPr/>
          <p:nvPr/>
        </p:nvSpPr>
        <p:spPr>
          <a:xfrm>
            <a:off x="4919472" y="1920240"/>
            <a:ext cx="502920" cy="50292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173" y="20409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91640"/>
            <a:ext cx="29718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 Chips (DNA Microarrays)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which genes/mRNAs are switched on under disease conditions.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288036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5FAF9"/>
          </a:solidFill>
        </p:spPr>
      </p:sp>
      <p:sp>
        <p:nvSpPr>
          <p:cNvPr id="14" name="Shape 10"/>
          <p:cNvSpPr/>
          <p:nvPr/>
        </p:nvSpPr>
        <p:spPr>
          <a:xfrm>
            <a:off x="713232" y="3200400"/>
            <a:ext cx="502920" cy="50292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3" y="332110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971800"/>
            <a:ext cx="29718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RNA Interference (RNAi)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Selectively silences a gene to observe the effect on the disease phenotype.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4754880" y="288036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5FAF9"/>
          </a:solidFill>
        </p:spPr>
      </p:sp>
      <p:sp>
        <p:nvSpPr>
          <p:cNvPr id="18" name="Shape 13"/>
          <p:cNvSpPr/>
          <p:nvPr/>
        </p:nvSpPr>
        <p:spPr>
          <a:xfrm>
            <a:off x="4919472" y="3200400"/>
            <a:ext cx="502920" cy="50292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173" y="332110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77840" y="2971800"/>
            <a:ext cx="29718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 Homology Studies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Compares unknown genes to genes of known function to infer activity.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48640" y="4160520"/>
            <a:ext cx="8046720" cy="640080"/>
          </a:xfrm>
          <a:prstGeom prst="roundRect">
            <a:avLst>
              <a:gd name="adj" fmla="val 10000"/>
            </a:avLst>
          </a:prstGeom>
          <a:solidFill>
            <a:srgbClr val="0B3D3C"/>
          </a:solidFill>
        </p:spPr>
      </p:sp>
      <p:sp>
        <p:nvSpPr>
          <p:cNvPr id="22" name="Text 16"/>
          <p:cNvSpPr/>
          <p:nvPr/>
        </p:nvSpPr>
        <p:spPr>
          <a:xfrm>
            <a:off x="548640" y="41605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Linked to Disease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2560320" y="41605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Druggable Target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0" y="41605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Safe to Modulate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583680" y="41605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Measurable Effect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03 —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Lead Identification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a target is validated, scientists search for molecules ('hits') that interact with it — the best of these become 'lead compounds'.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97280" y="1508760"/>
            <a:ext cx="6949440" cy="530352"/>
          </a:xfrm>
          <a:prstGeom prst="roundRect">
            <a:avLst>
              <a:gd name="adj" fmla="val 10345"/>
            </a:avLst>
          </a:prstGeom>
          <a:solidFill>
            <a:srgbClr val="E3F2F0"/>
          </a:solidFill>
        </p:spPr>
      </p:sp>
      <p:sp>
        <p:nvSpPr>
          <p:cNvPr id="6" name="Text 4"/>
          <p:cNvSpPr/>
          <p:nvPr/>
        </p:nvSpPr>
        <p:spPr>
          <a:xfrm>
            <a:off x="1097280" y="1508760"/>
            <a:ext cx="69494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 Libraries  —  </a:t>
            </a:r>
            <a:r>
              <a:rPr lang="en-US" sz="1100" i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Thousands to millions of candidate molecules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07992" y="2039112"/>
            <a:ext cx="128016" cy="109728"/>
          </a:xfrm>
          <a:prstGeom prst="downArrow">
            <a:avLst/>
          </a:prstGeom>
          <a:solidFill>
            <a:srgbClr val="D97D33"/>
          </a:solidFill>
        </p:spPr>
      </p:sp>
      <p:sp>
        <p:nvSpPr>
          <p:cNvPr id="8" name="Shape 6"/>
          <p:cNvSpPr/>
          <p:nvPr/>
        </p:nvSpPr>
        <p:spPr>
          <a:xfrm>
            <a:off x="1828800" y="2176272"/>
            <a:ext cx="5486400" cy="530352"/>
          </a:xfrm>
          <a:prstGeom prst="roundRect">
            <a:avLst>
              <a:gd name="adj" fmla="val 10345"/>
            </a:avLst>
          </a:prstGeom>
          <a:solidFill>
            <a:srgbClr val="9FD8D2"/>
          </a:solidFill>
        </p:spPr>
      </p:sp>
      <p:sp>
        <p:nvSpPr>
          <p:cNvPr id="9" name="Text 7"/>
          <p:cNvSpPr/>
          <p:nvPr/>
        </p:nvSpPr>
        <p:spPr>
          <a:xfrm>
            <a:off x="1828800" y="2176272"/>
            <a:ext cx="5486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HTS Screening  —  </a:t>
            </a:r>
            <a:r>
              <a:rPr lang="en-US" sz="1100" i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assays test activity against the target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07992" y="2706624"/>
            <a:ext cx="128016" cy="109728"/>
          </a:xfrm>
          <a:prstGeom prst="downArrow">
            <a:avLst/>
          </a:prstGeom>
          <a:solidFill>
            <a:srgbClr val="D97D33"/>
          </a:solidFill>
        </p:spPr>
      </p:sp>
      <p:sp>
        <p:nvSpPr>
          <p:cNvPr id="11" name="Shape 9"/>
          <p:cNvSpPr/>
          <p:nvPr/>
        </p:nvSpPr>
        <p:spPr>
          <a:xfrm>
            <a:off x="2560320" y="2843784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1B998B"/>
          </a:solidFill>
        </p:spPr>
      </p:sp>
      <p:sp>
        <p:nvSpPr>
          <p:cNvPr id="12" name="Text 10"/>
          <p:cNvSpPr/>
          <p:nvPr/>
        </p:nvSpPr>
        <p:spPr>
          <a:xfrm>
            <a:off x="2560320" y="2843784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Hit Compounds  —  </a:t>
            </a: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Molecules with measurable target activity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07992" y="3374136"/>
            <a:ext cx="128016" cy="109728"/>
          </a:xfrm>
          <a:prstGeom prst="downArrow">
            <a:avLst/>
          </a:prstGeom>
          <a:solidFill>
            <a:srgbClr val="D97D33"/>
          </a:solidFill>
        </p:spPr>
      </p:sp>
      <p:sp>
        <p:nvSpPr>
          <p:cNvPr id="14" name="Shape 12"/>
          <p:cNvSpPr/>
          <p:nvPr/>
        </p:nvSpPr>
        <p:spPr>
          <a:xfrm>
            <a:off x="3291840" y="3511296"/>
            <a:ext cx="2560320" cy="530352"/>
          </a:xfrm>
          <a:prstGeom prst="roundRect">
            <a:avLst>
              <a:gd name="adj" fmla="val 10345"/>
            </a:avLst>
          </a:prstGeom>
          <a:solidFill>
            <a:srgbClr val="F4A259"/>
          </a:solidFill>
        </p:spPr>
      </p:sp>
      <p:sp>
        <p:nvSpPr>
          <p:cNvPr id="15" name="Text 13"/>
          <p:cNvSpPr/>
          <p:nvPr/>
        </p:nvSpPr>
        <p:spPr>
          <a:xfrm>
            <a:off x="3291840" y="3511296"/>
            <a:ext cx="2560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Compounds  —  </a:t>
            </a:r>
            <a:r>
              <a:rPr lang="en-US" sz="1100" i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hits chosen for development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8046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SOURCES OF SCREENING COMPOUNDS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49884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AF9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9884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Combinatorial Chemistry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449884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AF9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449884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Product Extracts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449884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AF9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449884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Virtual / In-Silico Screening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04 —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Lead Optimization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compounds are chemically refined through repeated design-test cycles to maximize efficacy and minimize liabilities.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645920" y="2103120"/>
            <a:ext cx="2377440" cy="2377440"/>
          </a:xfrm>
          <a:prstGeom prst="ellipse">
            <a:avLst/>
          </a:prstGeom>
          <a:ln w="25400">
            <a:solidFill>
              <a:srgbClr val="9FD8D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148840" y="1463040"/>
            <a:ext cx="1371600" cy="850392"/>
          </a:xfrm>
          <a:prstGeom prst="roundRect">
            <a:avLst>
              <a:gd name="adj" fmla="val 6452"/>
            </a:avLst>
          </a:prstGeom>
          <a:solidFill>
            <a:srgbClr val="E3F2F0"/>
          </a:solidFill>
          <a:effectLst>
            <a:outerShdw blurRad="50800" dist="12700" dir="5400000" algn="bl" rotWithShape="0">
              <a:srgbClr val="0B3D3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58568" y="1696212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740" y="1788384"/>
            <a:ext cx="199705" cy="1997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15768" y="1463040"/>
            <a:ext cx="73152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2606040"/>
            <a:ext cx="1371600" cy="850392"/>
          </a:xfrm>
          <a:prstGeom prst="roundRect">
            <a:avLst>
              <a:gd name="adj" fmla="val 6452"/>
            </a:avLst>
          </a:prstGeom>
          <a:solidFill>
            <a:srgbClr val="E3F2F0"/>
          </a:solidFill>
          <a:effectLst>
            <a:outerShdw blurRad="50800" dist="12700" dir="5400000" algn="bl" rotWithShape="0">
              <a:srgbClr val="0B3D3C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01568" y="2839212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740" y="2931384"/>
            <a:ext cx="199705" cy="1997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58768" y="2606040"/>
            <a:ext cx="73152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Synthesize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148840" y="3749040"/>
            <a:ext cx="1371600" cy="850392"/>
          </a:xfrm>
          <a:prstGeom prst="roundRect">
            <a:avLst>
              <a:gd name="adj" fmla="val 6452"/>
            </a:avLst>
          </a:prstGeom>
          <a:solidFill>
            <a:srgbClr val="E3F2F0"/>
          </a:solidFill>
          <a:effectLst>
            <a:outerShdw blurRad="50800" dist="12700" dir="5400000" algn="bl" rotWithShape="0">
              <a:srgbClr val="0B3D3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258568" y="3982212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40" y="4074384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15768" y="3749040"/>
            <a:ext cx="73152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(Assay)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005840" y="2606040"/>
            <a:ext cx="1371600" cy="850392"/>
          </a:xfrm>
          <a:prstGeom prst="roundRect">
            <a:avLst>
              <a:gd name="adj" fmla="val 6452"/>
            </a:avLst>
          </a:prstGeom>
          <a:solidFill>
            <a:srgbClr val="E3F2F0"/>
          </a:solidFill>
          <a:effectLst>
            <a:outerShdw blurRad="50800" dist="12700" dir="5400000" algn="bl" rotWithShape="0">
              <a:srgbClr val="0B3D3C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115568" y="2839212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740" y="2931384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72768" y="2606040"/>
            <a:ext cx="73152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(SAR)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2331720" y="297180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Iterative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D97D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Cycle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074920" y="1600200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OPTIMIZATION GOALS (ADMET)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74920" y="1993392"/>
            <a:ext cx="109728" cy="109728"/>
          </a:xfrm>
          <a:prstGeom prst="ellipse">
            <a:avLst/>
          </a:prstGeom>
          <a:solidFill>
            <a:srgbClr val="F4A259"/>
          </a:solidFill>
        </p:spPr>
      </p:sp>
      <p:sp>
        <p:nvSpPr>
          <p:cNvPr id="25" name="Text 19"/>
          <p:cNvSpPr/>
          <p:nvPr/>
        </p:nvSpPr>
        <p:spPr>
          <a:xfrm>
            <a:off x="5303520" y="186537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Absorption:  </a:t>
            </a:r>
            <a:r>
              <a:rPr lang="en-US" sz="12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uptake into the bloodstream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074920" y="2496312"/>
            <a:ext cx="109728" cy="109728"/>
          </a:xfrm>
          <a:prstGeom prst="ellipse">
            <a:avLst/>
          </a:prstGeom>
          <a:solidFill>
            <a:srgbClr val="F4A259"/>
          </a:solidFill>
        </p:spPr>
      </p:sp>
      <p:sp>
        <p:nvSpPr>
          <p:cNvPr id="27" name="Text 21"/>
          <p:cNvSpPr/>
          <p:nvPr/>
        </p:nvSpPr>
        <p:spPr>
          <a:xfrm>
            <a:off x="5303520" y="236829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Distribution:  </a:t>
            </a:r>
            <a:r>
              <a:rPr lang="en-US" sz="12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 the drug reaches its target tissue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074920" y="2999232"/>
            <a:ext cx="109728" cy="109728"/>
          </a:xfrm>
          <a:prstGeom prst="ellipse">
            <a:avLst/>
          </a:prstGeom>
          <a:solidFill>
            <a:srgbClr val="F4A259"/>
          </a:solidFill>
        </p:spPr>
      </p:sp>
      <p:sp>
        <p:nvSpPr>
          <p:cNvPr id="29" name="Text 23"/>
          <p:cNvSpPr/>
          <p:nvPr/>
        </p:nvSpPr>
        <p:spPr>
          <a:xfrm>
            <a:off x="5303520" y="287121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Metabolism:  </a:t>
            </a:r>
            <a:r>
              <a:rPr lang="en-US" sz="12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 a manageable rate of breakdown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074920" y="3502152"/>
            <a:ext cx="109728" cy="109728"/>
          </a:xfrm>
          <a:prstGeom prst="ellipse">
            <a:avLst/>
          </a:prstGeom>
          <a:solidFill>
            <a:srgbClr val="F4A259"/>
          </a:solidFill>
        </p:spPr>
      </p:sp>
      <p:sp>
        <p:nvSpPr>
          <p:cNvPr id="31" name="Text 25"/>
          <p:cNvSpPr/>
          <p:nvPr/>
        </p:nvSpPr>
        <p:spPr>
          <a:xfrm>
            <a:off x="5303520" y="337413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Excretion:  </a:t>
            </a:r>
            <a:r>
              <a:rPr lang="en-US" sz="12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Predictable clearance from the body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074920" y="4005072"/>
            <a:ext cx="109728" cy="109728"/>
          </a:xfrm>
          <a:prstGeom prst="ellipse">
            <a:avLst/>
          </a:prstGeom>
          <a:solidFill>
            <a:srgbClr val="F4A259"/>
          </a:solidFill>
        </p:spPr>
      </p:sp>
      <p:sp>
        <p:nvSpPr>
          <p:cNvPr id="33" name="Text 27"/>
          <p:cNvSpPr/>
          <p:nvPr/>
        </p:nvSpPr>
        <p:spPr>
          <a:xfrm>
            <a:off x="5303520" y="387705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Toxicity:  </a:t>
            </a:r>
            <a:r>
              <a:rPr lang="en-US" sz="12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 harmful side effects – increase selectivity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05 —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Initial Product Characterization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clinical trials, the purified protein drug is fully characterized — forming the basis of routine quality-control identity tests.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1B998B"/>
          </a:solidFill>
        </p:spPr>
      </p:sp>
      <p:sp>
        <p:nvSpPr>
          <p:cNvPr id="6" name="Text 4"/>
          <p:cNvSpPr/>
          <p:nvPr/>
        </p:nvSpPr>
        <p:spPr>
          <a:xfrm>
            <a:off x="548640" y="1627632"/>
            <a:ext cx="19385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Structure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31136"/>
            <a:ext cx="1938528" cy="2414016"/>
          </a:xfrm>
          <a:prstGeom prst="rect">
            <a:avLst/>
          </a:prstGeom>
          <a:solidFill>
            <a:srgbClr val="F5FAF9"/>
          </a:solidFill>
        </p:spPr>
      </p:sp>
      <p:sp>
        <p:nvSpPr>
          <p:cNvPr id="8" name="Shape 6"/>
          <p:cNvSpPr/>
          <p:nvPr/>
        </p:nvSpPr>
        <p:spPr>
          <a:xfrm>
            <a:off x="1289304" y="2359152"/>
            <a:ext cx="457200" cy="457200"/>
          </a:xfrm>
          <a:prstGeom prst="ellipse">
            <a:avLst/>
          </a:prstGeom>
          <a:solidFill>
            <a:srgbClr val="F4A259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246888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2953512"/>
            <a:ext cx="164592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Amino acid composition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N- &amp; C-terminal analysis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Peptide mapping / sequencing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Disulfide linkage mapping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51760" y="1627632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1B998B"/>
          </a:solidFill>
        </p:spPr>
      </p:sp>
      <p:sp>
        <p:nvSpPr>
          <p:cNvPr id="12" name="Text 9"/>
          <p:cNvSpPr/>
          <p:nvPr/>
        </p:nvSpPr>
        <p:spPr>
          <a:xfrm>
            <a:off x="2651760" y="1627632"/>
            <a:ext cx="19385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Secondary Structure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651760" y="2231136"/>
            <a:ext cx="1938528" cy="2414016"/>
          </a:xfrm>
          <a:prstGeom prst="rect">
            <a:avLst/>
          </a:prstGeom>
          <a:solidFill>
            <a:srgbClr val="F5FAF9"/>
          </a:solidFill>
        </p:spPr>
      </p:sp>
      <p:sp>
        <p:nvSpPr>
          <p:cNvPr id="14" name="Shape 11"/>
          <p:cNvSpPr/>
          <p:nvPr/>
        </p:nvSpPr>
        <p:spPr>
          <a:xfrm>
            <a:off x="3392424" y="2359152"/>
            <a:ext cx="457200" cy="457200"/>
          </a:xfrm>
          <a:prstGeom prst="ellipse">
            <a:avLst/>
          </a:prstGeom>
          <a:solidFill>
            <a:srgbClr val="F4A259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246888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16352" y="2953512"/>
            <a:ext cx="164592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structural elements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% α-helix content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54880" y="1627632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1B998B"/>
          </a:solidFill>
        </p:spPr>
      </p:sp>
      <p:sp>
        <p:nvSpPr>
          <p:cNvPr id="18" name="Text 14"/>
          <p:cNvSpPr/>
          <p:nvPr/>
        </p:nvSpPr>
        <p:spPr>
          <a:xfrm>
            <a:off x="4754880" y="1627632"/>
            <a:ext cx="19385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Tertiary / Quaternary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754880" y="2231136"/>
            <a:ext cx="1938528" cy="2414016"/>
          </a:xfrm>
          <a:prstGeom prst="rect">
            <a:avLst/>
          </a:prstGeom>
          <a:solidFill>
            <a:srgbClr val="F5FAF9"/>
          </a:solidFill>
        </p:spPr>
      </p:sp>
      <p:sp>
        <p:nvSpPr>
          <p:cNvPr id="20" name="Shape 16"/>
          <p:cNvSpPr/>
          <p:nvPr/>
        </p:nvSpPr>
        <p:spPr>
          <a:xfrm>
            <a:off x="5495544" y="2359152"/>
            <a:ext cx="457200" cy="457200"/>
          </a:xfrm>
          <a:prstGeom prst="ellipse">
            <a:avLst/>
          </a:prstGeom>
          <a:solidFill>
            <a:srgbClr val="F4A259"/>
          </a:solidFill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2468880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19472" y="2953512"/>
            <a:ext cx="164592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form (monomer, dimer...)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3D structure (if possible)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858000" y="1627632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1B998B"/>
          </a:solidFill>
        </p:spPr>
      </p:sp>
      <p:sp>
        <p:nvSpPr>
          <p:cNvPr id="24" name="Text 19"/>
          <p:cNvSpPr/>
          <p:nvPr/>
        </p:nvSpPr>
        <p:spPr>
          <a:xfrm>
            <a:off x="6858000" y="1627632"/>
            <a:ext cx="19385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Post-Translational Mods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858000" y="2231136"/>
            <a:ext cx="1938528" cy="2414016"/>
          </a:xfrm>
          <a:prstGeom prst="rect">
            <a:avLst/>
          </a:prstGeom>
          <a:solidFill>
            <a:srgbClr val="F5FAF9"/>
          </a:solidFill>
        </p:spPr>
      </p:sp>
      <p:sp>
        <p:nvSpPr>
          <p:cNvPr id="26" name="Shape 21"/>
          <p:cNvSpPr/>
          <p:nvPr/>
        </p:nvSpPr>
        <p:spPr>
          <a:xfrm>
            <a:off x="7598664" y="2359152"/>
            <a:ext cx="457200" cy="457200"/>
          </a:xfrm>
          <a:prstGeom prst="ellipse">
            <a:avLst/>
          </a:prstGeom>
          <a:solidFill>
            <a:srgbClr val="F4A259"/>
          </a:solidFill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2468880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22592" y="2953512"/>
            <a:ext cx="164592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Carbohydrate side chains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Oligosaccharide analysis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 PTMs (e.g. PEGylation)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Stability is also assessed (temperature, pH, excipients) to define a suitable formulation and shelf-life.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06 —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Formulation &amp; Delivery Development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route of administration is decided during the preclinical phase — it must protect the biopharmaceutical and deliver it effectively.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1B998B"/>
          </a:solidFill>
        </p:spPr>
      </p:sp>
      <p:sp>
        <p:nvSpPr>
          <p:cNvPr id="6" name="Shape 4"/>
          <p:cNvSpPr/>
          <p:nvPr/>
        </p:nvSpPr>
        <p:spPr>
          <a:xfrm>
            <a:off x="658368" y="1664208"/>
            <a:ext cx="365760" cy="3657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751990"/>
            <a:ext cx="190195" cy="1901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60020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Parenteral Routes (Dominant)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3931920" cy="2148840"/>
          </a:xfrm>
          <a:prstGeom prst="rect">
            <a:avLst/>
          </a:prstGeom>
          <a:solidFill>
            <a:srgbClr val="F5FAF9"/>
          </a:solidFill>
        </p:spPr>
      </p:sp>
      <p:sp>
        <p:nvSpPr>
          <p:cNvPr id="10" name="Text 7"/>
          <p:cNvSpPr/>
          <p:nvPr/>
        </p:nvSpPr>
        <p:spPr>
          <a:xfrm>
            <a:off x="777240" y="2240280"/>
            <a:ext cx="356616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Intravenous (i.v.) – direct into bloodstream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Subcutaneous (s.c.) – under the skin, slow release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Intramuscular (i.m.) – into muscle tissue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 ~majority of approved biopharmaceuticals — bioavailability ~100%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60020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4A259"/>
          </a:solidFill>
        </p:spPr>
      </p:sp>
      <p:sp>
        <p:nvSpPr>
          <p:cNvPr id="12" name="Shape 9"/>
          <p:cNvSpPr/>
          <p:nvPr/>
        </p:nvSpPr>
        <p:spPr>
          <a:xfrm>
            <a:off x="4773168" y="1664208"/>
            <a:ext cx="365760" cy="365760"/>
          </a:xfrm>
          <a:prstGeom prst="ellipse">
            <a:avLst/>
          </a:prstGeom>
          <a:solidFill>
            <a:srgbClr val="0B3D3C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950" y="1751990"/>
            <a:ext cx="190195" cy="19019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60020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Alternative (Non-Parenteral) Routes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663440" y="2103120"/>
            <a:ext cx="3931920" cy="2148840"/>
          </a:xfrm>
          <a:prstGeom prst="rect">
            <a:avLst/>
          </a:prstGeom>
          <a:solidFill>
            <a:srgbClr val="F5FAF9"/>
          </a:solidFill>
        </p:spPr>
      </p:sp>
      <p:sp>
        <p:nvSpPr>
          <p:cNvPr id="16" name="Text 12"/>
          <p:cNvSpPr/>
          <p:nvPr/>
        </p:nvSpPr>
        <p:spPr>
          <a:xfrm>
            <a:off x="4892040" y="2240280"/>
            <a:ext cx="356616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Pulmonary – most promising; large surface area, avoids first-pass metabolism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Oral – most convenient, but bioavailability often &lt;1% (acid/enzyme degradation)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Nasal – good for small peptides (e.g. oxytocin)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Transdermal – modest success; helium jet / low-voltage techniques explored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434840"/>
            <a:ext cx="8046720" cy="502920"/>
          </a:xfrm>
          <a:prstGeom prst="roundRect">
            <a:avLst>
              <a:gd name="adj" fmla="val 12727"/>
            </a:avLst>
          </a:prstGeom>
          <a:solidFill>
            <a:srgbClr val="0B3D3C"/>
          </a:solidFill>
        </p:spPr>
      </p:sp>
      <p:sp>
        <p:nvSpPr>
          <p:cNvPr id="18" name="Text 14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Stability Testing: 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  •  pH  •  Excipient compatibility   →   determines final formulation &amp; shelf-life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07 — SAFETY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Preclinical Research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any product enters humans, its safety and pharmacological profile must be demonstrated in laboratory and animal studies.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938528" cy="1417320"/>
          </a:xfrm>
          <a:prstGeom prst="roundRect">
            <a:avLst>
              <a:gd name="adj" fmla="val 4516"/>
            </a:avLst>
          </a:prstGeom>
          <a:solidFill>
            <a:srgbClr val="E3F2F0"/>
          </a:solidFill>
        </p:spPr>
      </p:sp>
      <p:sp>
        <p:nvSpPr>
          <p:cNvPr id="6" name="Shape 4"/>
          <p:cNvSpPr/>
          <p:nvPr/>
        </p:nvSpPr>
        <p:spPr>
          <a:xfrm>
            <a:off x="1289304" y="1783080"/>
            <a:ext cx="457200" cy="45720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89280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31720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Up to 3 yrs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2715768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Typical Duration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51760" y="1600200"/>
            <a:ext cx="1938528" cy="1417320"/>
          </a:xfrm>
          <a:prstGeom prst="roundRect">
            <a:avLst>
              <a:gd name="adj" fmla="val 4516"/>
            </a:avLst>
          </a:prstGeom>
          <a:solidFill>
            <a:srgbClr val="E3F2F0"/>
          </a:solidFill>
        </p:spPr>
      </p:sp>
      <p:sp>
        <p:nvSpPr>
          <p:cNvPr id="11" name="Shape 8"/>
          <p:cNvSpPr/>
          <p:nvPr/>
        </p:nvSpPr>
        <p:spPr>
          <a:xfrm>
            <a:off x="3392424" y="1783080"/>
            <a:ext cx="457200" cy="45720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89280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331720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$10–30M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651760" y="2715768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Typical Cost (USD)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54880" y="1600200"/>
            <a:ext cx="1938528" cy="1417320"/>
          </a:xfrm>
          <a:prstGeom prst="roundRect">
            <a:avLst>
              <a:gd name="adj" fmla="val 4516"/>
            </a:avLst>
          </a:prstGeom>
          <a:solidFill>
            <a:srgbClr val="E3F2F0"/>
          </a:solidFill>
        </p:spPr>
      </p:sp>
      <p:sp>
        <p:nvSpPr>
          <p:cNvPr id="16" name="Shape 12"/>
          <p:cNvSpPr/>
          <p:nvPr/>
        </p:nvSpPr>
        <p:spPr>
          <a:xfrm>
            <a:off x="5495544" y="1783080"/>
            <a:ext cx="457200" cy="45720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189280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2331720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~10%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4754880" y="2715768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Survive to Clinical Trials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858000" y="1600200"/>
            <a:ext cx="1938528" cy="1417320"/>
          </a:xfrm>
          <a:prstGeom prst="roundRect">
            <a:avLst>
              <a:gd name="adj" fmla="val 4516"/>
            </a:avLst>
          </a:prstGeom>
          <a:solidFill>
            <a:srgbClr val="E3F2F0"/>
          </a:solidFill>
        </p:spPr>
      </p:sp>
      <p:sp>
        <p:nvSpPr>
          <p:cNvPr id="21" name="Shape 16"/>
          <p:cNvSpPr/>
          <p:nvPr/>
        </p:nvSpPr>
        <p:spPr>
          <a:xfrm>
            <a:off x="7598664" y="1783080"/>
            <a:ext cx="457200" cy="45720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189280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2331720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Rats &amp; Dogs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858000" y="2715768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Test Species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329184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5FAF9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1520" y="3429000"/>
            <a:ext cx="23774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Vitro Studies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Cell cultures &amp; biochemical assays — initial activity &amp; toxicity screening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3520440" y="329184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5FAF9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703320" y="3429000"/>
            <a:ext cx="23774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Vivo Studies (Animal)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Pharmacokinetics, pharmacodynamics &amp; toxicology in two species, both sexes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327648" y="3886200"/>
            <a:ext cx="256032" cy="128016"/>
          </a:xfrm>
          <a:prstGeom prst="rightArrow">
            <a:avLst/>
          </a:prstGeom>
          <a:solidFill>
            <a:srgbClr val="F4A259"/>
          </a:solidFill>
        </p:spPr>
      </p:sp>
      <p:sp>
        <p:nvSpPr>
          <p:cNvPr id="30" name="Shape 24"/>
          <p:cNvSpPr/>
          <p:nvPr/>
        </p:nvSpPr>
        <p:spPr>
          <a:xfrm>
            <a:off x="6629400" y="329184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0B3D3C"/>
          </a:solidFill>
        </p:spPr>
      </p:sp>
      <p:sp>
        <p:nvSpPr>
          <p:cNvPr id="31" name="Text 25"/>
          <p:cNvSpPr/>
          <p:nvPr/>
        </p:nvSpPr>
        <p:spPr>
          <a:xfrm>
            <a:off x="6766560" y="3456432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FD8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Approval to begin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Trials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(via IND application)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07 —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Preclinical Test Battery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Regulatory guidelines specify a standard range of studies — most are equally applicable to chemical drugs and biopharmaceuticals.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5FAF9"/>
          </a:solidFill>
        </p:spPr>
      </p:sp>
      <p:sp>
        <p:nvSpPr>
          <p:cNvPr id="6" name="Shape 4"/>
          <p:cNvSpPr/>
          <p:nvPr/>
        </p:nvSpPr>
        <p:spPr>
          <a:xfrm>
            <a:off x="640080" y="1705356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1797528"/>
            <a:ext cx="199705" cy="1997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6002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Pharmacokinetic Profile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5FAF9"/>
          </a:solidFill>
        </p:spPr>
      </p:sp>
      <p:sp>
        <p:nvSpPr>
          <p:cNvPr id="10" name="Shape 7"/>
          <p:cNvSpPr/>
          <p:nvPr/>
        </p:nvSpPr>
        <p:spPr>
          <a:xfrm>
            <a:off x="640080" y="2391156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2483328"/>
            <a:ext cx="199705" cy="199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22860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Pharmacodynamic Profile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5FAF9"/>
          </a:solidFill>
        </p:spPr>
      </p:sp>
      <p:sp>
        <p:nvSpPr>
          <p:cNvPr id="14" name="Shape 10"/>
          <p:cNvSpPr/>
          <p:nvPr/>
        </p:nvSpPr>
        <p:spPr>
          <a:xfrm>
            <a:off x="640080" y="3076956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3169128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15568" y="29718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Bioequivalence &amp; Bioavailability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36576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5FAF9"/>
          </a:solidFill>
        </p:spPr>
      </p:sp>
      <p:sp>
        <p:nvSpPr>
          <p:cNvPr id="18" name="Shape 13"/>
          <p:cNvSpPr/>
          <p:nvPr/>
        </p:nvSpPr>
        <p:spPr>
          <a:xfrm>
            <a:off x="640080" y="3762756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52" y="3854928"/>
            <a:ext cx="199705" cy="19970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15568" y="36576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Acute Toxicity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3434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5FAF9"/>
          </a:solidFill>
        </p:spPr>
      </p:sp>
      <p:sp>
        <p:nvSpPr>
          <p:cNvPr id="22" name="Shape 16"/>
          <p:cNvSpPr/>
          <p:nvPr/>
        </p:nvSpPr>
        <p:spPr>
          <a:xfrm>
            <a:off x="640080" y="4448556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52" y="4540728"/>
            <a:ext cx="199705" cy="19970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15568" y="43434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Chronic Toxicity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663440" y="16002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5FAF9"/>
          </a:solidFill>
        </p:spPr>
      </p:sp>
      <p:sp>
        <p:nvSpPr>
          <p:cNvPr id="26" name="Shape 19"/>
          <p:cNvSpPr/>
          <p:nvPr/>
        </p:nvSpPr>
        <p:spPr>
          <a:xfrm>
            <a:off x="4754880" y="1705356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7052" y="1797528"/>
            <a:ext cx="199705" cy="19970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30368" y="16002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Reproductive Toxicity &amp; Teratogenicity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4663440" y="22860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5FAF9"/>
          </a:solidFill>
        </p:spPr>
      </p:sp>
      <p:sp>
        <p:nvSpPr>
          <p:cNvPr id="30" name="Shape 22"/>
          <p:cNvSpPr/>
          <p:nvPr/>
        </p:nvSpPr>
        <p:spPr>
          <a:xfrm>
            <a:off x="4754880" y="2391156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7052" y="2483328"/>
            <a:ext cx="199705" cy="19970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30368" y="22860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Mutagenicity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4663440" y="2971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5FAF9"/>
          </a:solidFill>
        </p:spPr>
      </p:sp>
      <p:sp>
        <p:nvSpPr>
          <p:cNvPr id="34" name="Shape 25"/>
          <p:cNvSpPr/>
          <p:nvPr/>
        </p:nvSpPr>
        <p:spPr>
          <a:xfrm>
            <a:off x="4754880" y="3076956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7052" y="3169128"/>
            <a:ext cx="199705" cy="19970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230368" y="29718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Carcinogenicity</a:t>
            </a:r>
            <a:endParaRPr lang="en-US" sz="1250" dirty="0"/>
          </a:p>
        </p:txBody>
      </p:sp>
      <p:sp>
        <p:nvSpPr>
          <p:cNvPr id="37" name="Shape 27"/>
          <p:cNvSpPr/>
          <p:nvPr/>
        </p:nvSpPr>
        <p:spPr>
          <a:xfrm>
            <a:off x="4663440" y="36576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5FAF9"/>
          </a:solidFill>
        </p:spPr>
      </p:sp>
      <p:sp>
        <p:nvSpPr>
          <p:cNvPr id="38" name="Shape 28"/>
          <p:cNvSpPr/>
          <p:nvPr/>
        </p:nvSpPr>
        <p:spPr>
          <a:xfrm>
            <a:off x="4754880" y="3762756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7052" y="3854928"/>
            <a:ext cx="199705" cy="199705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230368" y="36576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Immunotoxicity</a:t>
            </a:r>
            <a:endParaRPr lang="en-US" sz="1250" dirty="0"/>
          </a:p>
        </p:txBody>
      </p:sp>
      <p:sp>
        <p:nvSpPr>
          <p:cNvPr id="41" name="Shape 30"/>
          <p:cNvSpPr/>
          <p:nvPr/>
        </p:nvSpPr>
        <p:spPr>
          <a:xfrm>
            <a:off x="4663440" y="43434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5FAF9"/>
          </a:solidFill>
        </p:spPr>
      </p:sp>
      <p:sp>
        <p:nvSpPr>
          <p:cNvPr id="42" name="Shape 31"/>
          <p:cNvSpPr/>
          <p:nvPr/>
        </p:nvSpPr>
        <p:spPr>
          <a:xfrm>
            <a:off x="4754880" y="4448556"/>
            <a:ext cx="384048" cy="384048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7052" y="4540728"/>
            <a:ext cx="199705" cy="199705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230368" y="43434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Tolerance</a:t>
            </a:r>
            <a:endParaRPr lang="en-US" sz="1250" dirty="0"/>
          </a:p>
        </p:txBody>
      </p:sp>
      <p:sp>
        <p:nvSpPr>
          <p:cNvPr id="45" name="Text 33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08 — REGULATORY GATEWAY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Investigational New Drug (IND) Application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formal dossier submitted to the FDA requesting permission to begin testing the drug in humans.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E3F2F0"/>
          </a:solidFill>
        </p:spPr>
      </p:sp>
      <p:sp>
        <p:nvSpPr>
          <p:cNvPr id="6" name="Text 4"/>
          <p:cNvSpPr/>
          <p:nvPr/>
        </p:nvSpPr>
        <p:spPr>
          <a:xfrm>
            <a:off x="548640" y="1645920"/>
            <a:ext cx="1874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 IND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to FDA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64592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1B998B"/>
          </a:solidFill>
        </p:spPr>
      </p:sp>
      <p:sp>
        <p:nvSpPr>
          <p:cNvPr id="8" name="Text 6"/>
          <p:cNvSpPr/>
          <p:nvPr/>
        </p:nvSpPr>
        <p:spPr>
          <a:xfrm>
            <a:off x="2788920" y="1645920"/>
            <a:ext cx="1874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FDA Review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(30 days max)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64592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4A259"/>
          </a:solidFill>
        </p:spPr>
      </p:sp>
      <p:sp>
        <p:nvSpPr>
          <p:cNvPr id="10" name="Text 8"/>
          <p:cNvSpPr/>
          <p:nvPr/>
        </p:nvSpPr>
        <p:spPr>
          <a:xfrm>
            <a:off x="5029200" y="1645920"/>
            <a:ext cx="1874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Granted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50592" y="1979676"/>
            <a:ext cx="310896" cy="155448"/>
          </a:xfrm>
          <a:prstGeom prst="rightArrow">
            <a:avLst/>
          </a:prstGeom>
          <a:solidFill>
            <a:srgbClr val="D97D33"/>
          </a:solidFill>
        </p:spPr>
      </p:sp>
      <p:sp>
        <p:nvSpPr>
          <p:cNvPr id="12" name="Shape 10"/>
          <p:cNvSpPr/>
          <p:nvPr/>
        </p:nvSpPr>
        <p:spPr>
          <a:xfrm>
            <a:off x="4690872" y="1979676"/>
            <a:ext cx="310896" cy="155448"/>
          </a:xfrm>
          <a:prstGeom prst="rightArrow">
            <a:avLst/>
          </a:prstGeom>
          <a:solidFill>
            <a:srgbClr val="D97D33"/>
          </a:solidFill>
        </p:spPr>
      </p:sp>
      <p:sp>
        <p:nvSpPr>
          <p:cNvPr id="13" name="Shape 11"/>
          <p:cNvSpPr/>
          <p:nvPr/>
        </p:nvSpPr>
        <p:spPr>
          <a:xfrm>
            <a:off x="5029200" y="265176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0DCC8"/>
          </a:solidFill>
        </p:spPr>
      </p:sp>
      <p:sp>
        <p:nvSpPr>
          <p:cNvPr id="14" name="Text 12"/>
          <p:cNvSpPr/>
          <p:nvPr/>
        </p:nvSpPr>
        <p:spPr>
          <a:xfrm>
            <a:off x="5029200" y="2651760"/>
            <a:ext cx="1874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Withheld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(more info required)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88920" y="265176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E3F2F0"/>
          </a:solidFill>
        </p:spPr>
      </p:sp>
      <p:sp>
        <p:nvSpPr>
          <p:cNvPr id="16" name="Text 14"/>
          <p:cNvSpPr/>
          <p:nvPr/>
        </p:nvSpPr>
        <p:spPr>
          <a:xfrm>
            <a:off x="2788920" y="2651760"/>
            <a:ext cx="1874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Sponsor Provides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Amendments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97880" y="2423160"/>
            <a:ext cx="128016" cy="146304"/>
          </a:xfrm>
          <a:prstGeom prst="downArrow">
            <a:avLst/>
          </a:prstGeom>
          <a:solidFill>
            <a:srgbClr val="D97D33"/>
          </a:solidFill>
        </p:spPr>
      </p:sp>
      <p:sp>
        <p:nvSpPr>
          <p:cNvPr id="18" name="Shape 16"/>
          <p:cNvSpPr/>
          <p:nvPr/>
        </p:nvSpPr>
        <p:spPr>
          <a:xfrm>
            <a:off x="4297680" y="2985516"/>
            <a:ext cx="310896" cy="146304"/>
          </a:xfrm>
          <a:prstGeom prst="leftArrow">
            <a:avLst/>
          </a:prstGeom>
          <a:solidFill>
            <a:srgbClr val="D97D33"/>
          </a:solidFill>
        </p:spPr>
      </p:sp>
      <p:sp>
        <p:nvSpPr>
          <p:cNvPr id="19" name="Shape 17"/>
          <p:cNvSpPr/>
          <p:nvPr/>
        </p:nvSpPr>
        <p:spPr>
          <a:xfrm>
            <a:off x="3657600" y="2386584"/>
            <a:ext cx="128016" cy="164592"/>
          </a:xfrm>
          <a:prstGeom prst="upArrow">
            <a:avLst/>
          </a:prstGeom>
          <a:solidFill>
            <a:srgbClr val="D97D33"/>
          </a:solidFill>
        </p:spPr>
      </p:sp>
      <p:sp>
        <p:nvSpPr>
          <p:cNvPr id="20" name="Shape 18"/>
          <p:cNvSpPr/>
          <p:nvPr/>
        </p:nvSpPr>
        <p:spPr>
          <a:xfrm>
            <a:off x="548640" y="3657600"/>
            <a:ext cx="8046720" cy="1078992"/>
          </a:xfrm>
          <a:prstGeom prst="roundRect">
            <a:avLst>
              <a:gd name="adj" fmla="val 5932"/>
            </a:avLst>
          </a:prstGeom>
          <a:solidFill>
            <a:srgbClr val="0B3D3C"/>
          </a:solidFill>
        </p:spPr>
      </p:sp>
      <p:sp>
        <p:nvSpPr>
          <p:cNvPr id="21" name="Text 19"/>
          <p:cNvSpPr/>
          <p:nvPr/>
        </p:nvSpPr>
        <p:spPr>
          <a:xfrm>
            <a:off x="777240" y="3767328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IND DOSSIER MUST INCLUDE: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041648"/>
            <a:ext cx="3886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&amp; general investigational plan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Investigator's brochure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Chemistry / biology manufacturing &amp; control details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4041648"/>
            <a:ext cx="3749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Pharmacology &amp; toxicology data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clinical trial protocol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previous human experience with the substance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09 — HUMAN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Clinical Trials: Phases I – IV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drug must satisfactorily complete each phase before progressing to the next — each step enrolls more patients over a longer duration.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E3F2F0"/>
          </a:solidFill>
        </p:spPr>
      </p:sp>
      <p:sp>
        <p:nvSpPr>
          <p:cNvPr id="6" name="Text 4"/>
          <p:cNvSpPr/>
          <p:nvPr/>
        </p:nvSpPr>
        <p:spPr>
          <a:xfrm>
            <a:off x="731520" y="155448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Phase I   </a:t>
            </a:r>
            <a:r>
              <a:rPr lang="en-US" sz="11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20–80 Healthy Volunteers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5544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 Year  —  </a:t>
            </a:r>
            <a:r>
              <a:rPr lang="en-US" sz="1200" i="1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testing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9FD8D2"/>
          </a:solidFill>
        </p:spPr>
      </p:sp>
      <p:sp>
        <p:nvSpPr>
          <p:cNvPr id="9" name="Text 7"/>
          <p:cNvSpPr/>
          <p:nvPr/>
        </p:nvSpPr>
        <p:spPr>
          <a:xfrm>
            <a:off x="731520" y="2313432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Phase II   </a:t>
            </a:r>
            <a:r>
              <a:rPr lang="en-US" sz="1150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100–300 Patients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313432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~2 Years  —  </a:t>
            </a:r>
            <a:r>
              <a:rPr lang="en-US" sz="1200" i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Efficacy &amp; safety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72384"/>
            <a:ext cx="6949440" cy="640080"/>
          </a:xfrm>
          <a:prstGeom prst="roundRect">
            <a:avLst>
              <a:gd name="adj" fmla="val 8571"/>
            </a:avLst>
          </a:prstGeom>
          <a:solidFill>
            <a:srgbClr val="1B998B"/>
          </a:solidFill>
        </p:spPr>
      </p:sp>
      <p:sp>
        <p:nvSpPr>
          <p:cNvPr id="12" name="Text 10"/>
          <p:cNvSpPr/>
          <p:nvPr/>
        </p:nvSpPr>
        <p:spPr>
          <a:xfrm>
            <a:off x="731520" y="3072384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Phase III  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1,000–3,000 Patients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3072384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 Years  —  </a:t>
            </a: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Large-scale efficacy &amp; safety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F4A259"/>
          </a:solidFill>
        </p:spPr>
      </p:sp>
      <p:sp>
        <p:nvSpPr>
          <p:cNvPr id="15" name="Text 13"/>
          <p:cNvSpPr/>
          <p:nvPr/>
        </p:nvSpPr>
        <p:spPr>
          <a:xfrm>
            <a:off x="731520" y="3831336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Phase IV   </a:t>
            </a:r>
            <a:r>
              <a:rPr lang="en-US" sz="1150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Population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831336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Several Years  —  </a:t>
            </a:r>
            <a:r>
              <a:rPr lang="en-US" sz="1200" i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Post-marketing surveillance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average, only 10–20% of drugs entering clinical trials are eventually commercialized.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09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Randomized Controlled Trial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randomized, double-blind controlled trial is the scientific gold standard — it removes bias and validates statistical analysis.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777240" cy="777240"/>
          </a:xfrm>
          <a:prstGeom prst="ellipse">
            <a:avLst/>
          </a:prstGeom>
          <a:solidFill>
            <a:srgbClr val="E3F2F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22439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88036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Eligible Patient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Population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508760" y="2386584"/>
            <a:ext cx="365760" cy="182880"/>
          </a:xfrm>
          <a:prstGeom prst="rightArrow">
            <a:avLst/>
          </a:prstGeom>
          <a:solidFill>
            <a:srgbClr val="F4A259"/>
          </a:solidFill>
        </p:spPr>
      </p:sp>
      <p:sp>
        <p:nvSpPr>
          <p:cNvPr id="9" name="Shape 6"/>
          <p:cNvSpPr/>
          <p:nvPr/>
        </p:nvSpPr>
        <p:spPr>
          <a:xfrm>
            <a:off x="2057400" y="214884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0B3D3C"/>
          </a:solidFill>
        </p:spPr>
      </p:sp>
      <p:sp>
        <p:nvSpPr>
          <p:cNvPr id="10" name="Text 7"/>
          <p:cNvSpPr/>
          <p:nvPr/>
        </p:nvSpPr>
        <p:spPr>
          <a:xfrm>
            <a:off x="2057400" y="214884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Assignment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rot="-1500000">
            <a:off x="3657600" y="1554480"/>
            <a:ext cx="320040" cy="201168"/>
          </a:xfrm>
          <a:prstGeom prst="rightArrow">
            <a:avLst/>
          </a:prstGeom>
          <a:solidFill>
            <a:srgbClr val="D97D33"/>
          </a:solidFill>
        </p:spPr>
      </p:sp>
      <p:sp>
        <p:nvSpPr>
          <p:cNvPr id="12" name="Shape 9"/>
          <p:cNvSpPr/>
          <p:nvPr/>
        </p:nvSpPr>
        <p:spPr>
          <a:xfrm rot="1500000">
            <a:off x="3657600" y="2926080"/>
            <a:ext cx="320040" cy="201168"/>
          </a:xfrm>
          <a:prstGeom prst="rightArrow">
            <a:avLst/>
          </a:prstGeom>
          <a:solidFill>
            <a:srgbClr val="D97D33"/>
          </a:solidFill>
        </p:spPr>
      </p:sp>
      <p:sp>
        <p:nvSpPr>
          <p:cNvPr id="13" name="Shape 10"/>
          <p:cNvSpPr/>
          <p:nvPr/>
        </p:nvSpPr>
        <p:spPr>
          <a:xfrm>
            <a:off x="4206240" y="137160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1B998B"/>
          </a:solidFill>
        </p:spPr>
      </p:sp>
      <p:sp>
        <p:nvSpPr>
          <p:cNvPr id="14" name="Text 11"/>
          <p:cNvSpPr/>
          <p:nvPr/>
        </p:nvSpPr>
        <p:spPr>
          <a:xfrm>
            <a:off x="4389120" y="137160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Group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3F2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Receives the new drug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06240" y="283464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9FD8D2"/>
          </a:solidFill>
        </p:spPr>
      </p:sp>
      <p:sp>
        <p:nvSpPr>
          <p:cNvPr id="16" name="Text 13"/>
          <p:cNvSpPr/>
          <p:nvPr/>
        </p:nvSpPr>
        <p:spPr>
          <a:xfrm>
            <a:off x="4389120" y="283464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Group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Placebo or standard therapy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 rot="1500000">
            <a:off x="6492240" y="1645920"/>
            <a:ext cx="320040" cy="201168"/>
          </a:xfrm>
          <a:prstGeom prst="rightArrow">
            <a:avLst/>
          </a:prstGeom>
          <a:solidFill>
            <a:srgbClr val="D97D33"/>
          </a:solidFill>
        </p:spPr>
      </p:sp>
      <p:sp>
        <p:nvSpPr>
          <p:cNvPr id="18" name="Shape 15"/>
          <p:cNvSpPr/>
          <p:nvPr/>
        </p:nvSpPr>
        <p:spPr>
          <a:xfrm rot="-1500000">
            <a:off x="6492240" y="2834640"/>
            <a:ext cx="320040" cy="201168"/>
          </a:xfrm>
          <a:prstGeom prst="rightArrow">
            <a:avLst/>
          </a:prstGeom>
          <a:solidFill>
            <a:srgbClr val="D97D33"/>
          </a:solidFill>
        </p:spPr>
      </p:sp>
      <p:sp>
        <p:nvSpPr>
          <p:cNvPr id="19" name="Shape 16"/>
          <p:cNvSpPr/>
          <p:nvPr/>
        </p:nvSpPr>
        <p:spPr>
          <a:xfrm>
            <a:off x="6949440" y="1645920"/>
            <a:ext cx="1645920" cy="1325880"/>
          </a:xfrm>
          <a:prstGeom prst="roundRect">
            <a:avLst>
              <a:gd name="adj" fmla="val 4828"/>
            </a:avLst>
          </a:prstGeom>
          <a:solidFill>
            <a:srgbClr val="F4A259"/>
          </a:solidFill>
        </p:spPr>
      </p:sp>
      <p:sp>
        <p:nvSpPr>
          <p:cNvPr id="20" name="Text 17"/>
          <p:cNvSpPr/>
          <p:nvPr/>
        </p:nvSpPr>
        <p:spPr>
          <a:xfrm>
            <a:off x="6949440" y="1645920"/>
            <a:ext cx="164592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Compare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3D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" y="3794760"/>
            <a:ext cx="8046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LEVELS OF BLINDING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2560320" cy="713232"/>
          </a:xfrm>
          <a:prstGeom prst="roundRect">
            <a:avLst>
              <a:gd name="adj" fmla="val 6410"/>
            </a:avLst>
          </a:prstGeom>
          <a:solidFill>
            <a:srgbClr val="F5FAF9"/>
          </a:solidFill>
        </p:spPr>
      </p:sp>
      <p:sp>
        <p:nvSpPr>
          <p:cNvPr id="23" name="Text 20"/>
          <p:cNvSpPr/>
          <p:nvPr/>
        </p:nvSpPr>
        <p:spPr>
          <a:xfrm>
            <a:off x="658368" y="4069080"/>
            <a:ext cx="234086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(Unblinded)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Investigators and participants both know group assignment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91840" y="4069080"/>
            <a:ext cx="2560320" cy="713232"/>
          </a:xfrm>
          <a:prstGeom prst="roundRect">
            <a:avLst>
              <a:gd name="adj" fmla="val 6410"/>
            </a:avLst>
          </a:prstGeom>
          <a:solidFill>
            <a:srgbClr val="F5FAF9"/>
          </a:solidFill>
        </p:spPr>
      </p:sp>
      <p:sp>
        <p:nvSpPr>
          <p:cNvPr id="25" name="Text 22"/>
          <p:cNvSpPr/>
          <p:nvPr/>
        </p:nvSpPr>
        <p:spPr>
          <a:xfrm>
            <a:off x="3401568" y="4069080"/>
            <a:ext cx="234086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Single-Blind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the investigator knows the group assignment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035040" y="4069080"/>
            <a:ext cx="2560320" cy="713232"/>
          </a:xfrm>
          <a:prstGeom prst="roundRect">
            <a:avLst>
              <a:gd name="adj" fmla="val 6410"/>
            </a:avLst>
          </a:prstGeom>
          <a:solidFill>
            <a:srgbClr val="F5FAF9"/>
          </a:solidFill>
        </p:spPr>
      </p:sp>
      <p:sp>
        <p:nvSpPr>
          <p:cNvPr id="27" name="Text 24"/>
          <p:cNvSpPr/>
          <p:nvPr/>
        </p:nvSpPr>
        <p:spPr>
          <a:xfrm>
            <a:off x="6144768" y="4069080"/>
            <a:ext cx="234086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Double-Blind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Neither investigator nor participant knows — minimizes bias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10 — REGULATORY SUBMISSION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New Drug Application (NDA)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successful clinical trials, all preclinical, clinical and manufacturing data are compiled into a single integrated dossier for the FDA.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743200" cy="3108960"/>
          </a:xfrm>
          <a:prstGeom prst="roundRect">
            <a:avLst>
              <a:gd name="adj" fmla="val 2333"/>
            </a:avLst>
          </a:prstGeom>
          <a:solidFill>
            <a:srgbClr val="0B3D3C"/>
          </a:solidFill>
        </p:spPr>
      </p:sp>
      <p:sp>
        <p:nvSpPr>
          <p:cNvPr id="6" name="Shape 4"/>
          <p:cNvSpPr/>
          <p:nvPr/>
        </p:nvSpPr>
        <p:spPr>
          <a:xfrm>
            <a:off x="1577340" y="1783080"/>
            <a:ext cx="685800" cy="68580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932" y="19476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060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200–300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Volumes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D8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 120,000 pages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for CDER-regulated drugs (a Biologics Licence Application, or BLA, is submitted for CBER-regulated biologics).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57600" y="160020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SECTIONS OF AN NDA DOSSIER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0" y="192024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5FAF9"/>
          </a:solidFill>
        </p:spPr>
      </p:sp>
      <p:sp>
        <p:nvSpPr>
          <p:cNvPr id="14" name="Text 11"/>
          <p:cNvSpPr/>
          <p:nvPr/>
        </p:nvSpPr>
        <p:spPr>
          <a:xfrm>
            <a:off x="3749040" y="199339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749040" y="2304288"/>
            <a:ext cx="12801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Chemistry, Manufacturing &amp; Control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257800" y="192024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5FAF9"/>
          </a:solidFill>
        </p:spPr>
      </p:sp>
      <p:sp>
        <p:nvSpPr>
          <p:cNvPr id="17" name="Text 14"/>
          <p:cNvSpPr/>
          <p:nvPr/>
        </p:nvSpPr>
        <p:spPr>
          <a:xfrm>
            <a:off x="5349240" y="199339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2304288"/>
            <a:ext cx="12801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Non-Clinical Pharmacology &amp; Toxicology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0" y="192024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5FAF9"/>
          </a:solidFill>
        </p:spPr>
      </p:sp>
      <p:sp>
        <p:nvSpPr>
          <p:cNvPr id="20" name="Text 17"/>
          <p:cNvSpPr/>
          <p:nvPr/>
        </p:nvSpPr>
        <p:spPr>
          <a:xfrm>
            <a:off x="6949440" y="199339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949440" y="2304288"/>
            <a:ext cx="12801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Pharmacokinetics &amp; Bioavailability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0" y="324612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5FAF9"/>
          </a:solidFill>
        </p:spPr>
      </p:sp>
      <p:sp>
        <p:nvSpPr>
          <p:cNvPr id="23" name="Text 20"/>
          <p:cNvSpPr/>
          <p:nvPr/>
        </p:nvSpPr>
        <p:spPr>
          <a:xfrm>
            <a:off x="3749040" y="33192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749040" y="3630168"/>
            <a:ext cx="12801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Data (Phase I–III results)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257800" y="324612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5FAF9"/>
          </a:solidFill>
        </p:spPr>
      </p:sp>
      <p:sp>
        <p:nvSpPr>
          <p:cNvPr id="26" name="Text 23"/>
          <p:cNvSpPr/>
          <p:nvPr/>
        </p:nvSpPr>
        <p:spPr>
          <a:xfrm>
            <a:off x="5349240" y="33192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349240" y="3630168"/>
            <a:ext cx="12801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Section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858000" y="324612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5FAF9"/>
          </a:solidFill>
        </p:spPr>
      </p:sp>
      <p:sp>
        <p:nvSpPr>
          <p:cNvPr id="29" name="Text 26"/>
          <p:cNvSpPr/>
          <p:nvPr/>
        </p:nvSpPr>
        <p:spPr>
          <a:xfrm>
            <a:off x="6949440" y="33192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949440" y="3630168"/>
            <a:ext cx="12801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Patent Information &amp; Certification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452628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FDA has 45 days for a preliminary check, then a multi-stage review averaging ~12 months.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11 — REGULATORY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FDA / CDER Review Process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filed NDA passes through several layers of independent expert review before a final recommendation is made.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E3F2F0"/>
          </a:solidFill>
        </p:spPr>
      </p:sp>
      <p:sp>
        <p:nvSpPr>
          <p:cNvPr id="6" name="Shape 4"/>
          <p:cNvSpPr/>
          <p:nvPr/>
        </p:nvSpPr>
        <p:spPr>
          <a:xfrm>
            <a:off x="685800" y="1636776"/>
            <a:ext cx="475488" cy="475488"/>
          </a:xfrm>
          <a:prstGeom prst="ellipse">
            <a:avLst/>
          </a:prstGeom>
          <a:solidFill>
            <a:srgbClr val="0B3D3C"/>
          </a:solidFill>
        </p:spPr>
      </p:sp>
      <p:sp>
        <p:nvSpPr>
          <p:cNvPr id="7" name="Text 5"/>
          <p:cNvSpPr/>
          <p:nvPr/>
        </p:nvSpPr>
        <p:spPr>
          <a:xfrm>
            <a:off x="685800" y="16367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Filed NDA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49240" y="1554480"/>
            <a:ext cx="3246120" cy="640080"/>
          </a:xfrm>
          <a:prstGeom prst="roundRect">
            <a:avLst>
              <a:gd name="adj" fmla="val 7143"/>
            </a:avLst>
          </a:prstGeom>
          <a:solidFill>
            <a:srgbClr val="F5FAF9"/>
          </a:solidFill>
        </p:spPr>
      </p:sp>
      <p:sp>
        <p:nvSpPr>
          <p:cNvPr id="10" name="Text 8"/>
          <p:cNvSpPr/>
          <p:nvPr/>
        </p:nvSpPr>
        <p:spPr>
          <a:xfrm>
            <a:off x="5468112" y="15544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Submission accepted after a 45-day completeness check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70632" y="2194560"/>
            <a:ext cx="128016" cy="109728"/>
          </a:xfrm>
          <a:prstGeom prst="downArrow">
            <a:avLst/>
          </a:prstGeom>
          <a:solidFill>
            <a:srgbClr val="D97D33"/>
          </a:solidFill>
        </p:spPr>
      </p:sp>
      <p:sp>
        <p:nvSpPr>
          <p:cNvPr id="12" name="Shape 10"/>
          <p:cNvSpPr/>
          <p:nvPr/>
        </p:nvSpPr>
        <p:spPr>
          <a:xfrm>
            <a:off x="548640" y="2304288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9FD8D2"/>
          </a:solidFill>
        </p:spPr>
      </p:sp>
      <p:sp>
        <p:nvSpPr>
          <p:cNvPr id="13" name="Shape 11"/>
          <p:cNvSpPr/>
          <p:nvPr/>
        </p:nvSpPr>
        <p:spPr>
          <a:xfrm>
            <a:off x="685800" y="2386584"/>
            <a:ext cx="475488" cy="475488"/>
          </a:xfrm>
          <a:prstGeom prst="ellipse">
            <a:avLst/>
          </a:prstGeom>
          <a:solidFill>
            <a:srgbClr val="0B3D3C"/>
          </a:solidFill>
        </p:spPr>
      </p:sp>
      <p:sp>
        <p:nvSpPr>
          <p:cNvPr id="14" name="Text 12"/>
          <p:cNvSpPr/>
          <p:nvPr/>
        </p:nvSpPr>
        <p:spPr>
          <a:xfrm>
            <a:off x="685800" y="23865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304288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Review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49240" y="2304288"/>
            <a:ext cx="3246120" cy="640080"/>
          </a:xfrm>
          <a:prstGeom prst="roundRect">
            <a:avLst>
              <a:gd name="adj" fmla="val 7143"/>
            </a:avLst>
          </a:prstGeom>
          <a:solidFill>
            <a:srgbClr val="F5FAF9"/>
          </a:solidFill>
        </p:spPr>
      </p:sp>
      <p:sp>
        <p:nvSpPr>
          <p:cNvPr id="17" name="Text 15"/>
          <p:cNvSpPr/>
          <p:nvPr/>
        </p:nvSpPr>
        <p:spPr>
          <a:xfrm>
            <a:off x="5468112" y="230428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Multidisciplinary panel: chemist, pharmacologist, biostatistician, medical officer, biopharmaceutics scientist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70632" y="2944368"/>
            <a:ext cx="128016" cy="109728"/>
          </a:xfrm>
          <a:prstGeom prst="downArrow">
            <a:avLst/>
          </a:prstGeom>
          <a:solidFill>
            <a:srgbClr val="D97D33"/>
          </a:solidFill>
        </p:spPr>
      </p:sp>
      <p:sp>
        <p:nvSpPr>
          <p:cNvPr id="19" name="Shape 17"/>
          <p:cNvSpPr/>
          <p:nvPr/>
        </p:nvSpPr>
        <p:spPr>
          <a:xfrm>
            <a:off x="548640" y="3054096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1B998B"/>
          </a:solidFill>
        </p:spPr>
      </p:sp>
      <p:sp>
        <p:nvSpPr>
          <p:cNvPr id="20" name="Shape 18"/>
          <p:cNvSpPr/>
          <p:nvPr/>
        </p:nvSpPr>
        <p:spPr>
          <a:xfrm>
            <a:off x="685800" y="3136392"/>
            <a:ext cx="475488" cy="475488"/>
          </a:xfrm>
          <a:prstGeom prst="ellipse">
            <a:avLst/>
          </a:prstGeom>
          <a:solidFill>
            <a:srgbClr val="0B3D3C"/>
          </a:solidFill>
        </p:spPr>
      </p:sp>
      <p:sp>
        <p:nvSpPr>
          <p:cNvPr id="21" name="Text 19"/>
          <p:cNvSpPr/>
          <p:nvPr/>
        </p:nvSpPr>
        <p:spPr>
          <a:xfrm>
            <a:off x="685800" y="31363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05409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Secondary Review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49240" y="3054096"/>
            <a:ext cx="3246120" cy="640080"/>
          </a:xfrm>
          <a:prstGeom prst="roundRect">
            <a:avLst>
              <a:gd name="adj" fmla="val 7143"/>
            </a:avLst>
          </a:prstGeom>
          <a:solidFill>
            <a:srgbClr val="F5FAF9"/>
          </a:solidFill>
        </p:spPr>
      </p:sp>
      <p:sp>
        <p:nvSpPr>
          <p:cNvPr id="24" name="Text 22"/>
          <p:cNvSpPr/>
          <p:nvPr/>
        </p:nvSpPr>
        <p:spPr>
          <a:xfrm>
            <a:off x="5468112" y="3054096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Supervisory officers re-check each reviewer's report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70632" y="3694176"/>
            <a:ext cx="128016" cy="109728"/>
          </a:xfrm>
          <a:prstGeom prst="downArrow">
            <a:avLst/>
          </a:prstGeom>
          <a:solidFill>
            <a:srgbClr val="D97D33"/>
          </a:solidFill>
        </p:spPr>
      </p:sp>
      <p:sp>
        <p:nvSpPr>
          <p:cNvPr id="26" name="Shape 24"/>
          <p:cNvSpPr/>
          <p:nvPr/>
        </p:nvSpPr>
        <p:spPr>
          <a:xfrm>
            <a:off x="548640" y="3803904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F4A259"/>
          </a:solidFill>
        </p:spPr>
      </p:sp>
      <p:sp>
        <p:nvSpPr>
          <p:cNvPr id="27" name="Shape 25"/>
          <p:cNvSpPr/>
          <p:nvPr/>
        </p:nvSpPr>
        <p:spPr>
          <a:xfrm>
            <a:off x="685800" y="3886200"/>
            <a:ext cx="475488" cy="475488"/>
          </a:xfrm>
          <a:prstGeom prst="ellipse">
            <a:avLst/>
          </a:prstGeom>
          <a:solidFill>
            <a:srgbClr val="0B3D3C"/>
          </a:solidFill>
        </p:spPr>
      </p:sp>
      <p:sp>
        <p:nvSpPr>
          <p:cNvPr id="28" name="Text 26"/>
          <p:cNvSpPr/>
          <p:nvPr/>
        </p:nvSpPr>
        <p:spPr>
          <a:xfrm>
            <a:off x="685800" y="388620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3803904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Division Director Recommendation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49240" y="3803904"/>
            <a:ext cx="3246120" cy="640080"/>
          </a:xfrm>
          <a:prstGeom prst="roundRect">
            <a:avLst>
              <a:gd name="adj" fmla="val 7143"/>
            </a:avLst>
          </a:prstGeom>
          <a:solidFill>
            <a:srgbClr val="F5FAF9"/>
          </a:solidFill>
        </p:spPr>
      </p:sp>
      <p:sp>
        <p:nvSpPr>
          <p:cNvPr id="31" name="Text 29"/>
          <p:cNvSpPr/>
          <p:nvPr/>
        </p:nvSpPr>
        <p:spPr>
          <a:xfrm>
            <a:off x="5468112" y="3803904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Approval, rejection, or request for further information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average the full review process takes about 12 months. The CDER reviews most chemical-based &amp; biotech drugs; the CBER reviews vaccines, blood products and gene therapies.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D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12 — APPROVAL &amp; BEYOND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FDA Approval &amp; Post-Marketing Surveillance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Marketing approval is not the end of the story — regulatory oversight continues throughout the product's commercial lifetime.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481328" cy="1554480"/>
          </a:xfrm>
          <a:prstGeom prst="roundRect">
            <a:avLst>
              <a:gd name="adj" fmla="val 4321"/>
            </a:avLst>
          </a:prstGeom>
          <a:solidFill>
            <a:srgbClr val="E3F2F0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" y="1993392"/>
            <a:ext cx="502920" cy="50292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545" y="211409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2578608"/>
            <a:ext cx="13533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Marketing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Approval Granted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034540" y="2551176"/>
            <a:ext cx="91440" cy="45720"/>
          </a:xfrm>
          <a:prstGeom prst="rightArrow">
            <a:avLst/>
          </a:prstGeom>
          <a:solidFill>
            <a:srgbClr val="F4A259"/>
          </a:solidFill>
        </p:spPr>
      </p:sp>
      <p:sp>
        <p:nvSpPr>
          <p:cNvPr id="10" name="Shape 7"/>
          <p:cNvSpPr/>
          <p:nvPr/>
        </p:nvSpPr>
        <p:spPr>
          <a:xfrm>
            <a:off x="2139696" y="1828800"/>
            <a:ext cx="1481328" cy="1554480"/>
          </a:xfrm>
          <a:prstGeom prst="roundRect">
            <a:avLst>
              <a:gd name="adj" fmla="val 4321"/>
            </a:avLst>
          </a:prstGeom>
          <a:solidFill>
            <a:srgbClr val="F5FAF9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1993392"/>
            <a:ext cx="502920" cy="50292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601" y="2114093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03704" y="2578608"/>
            <a:ext cx="13533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Manufacturing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Licence Inspection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25596" y="2551176"/>
            <a:ext cx="91440" cy="45720"/>
          </a:xfrm>
          <a:prstGeom prst="rightArrow">
            <a:avLst/>
          </a:prstGeom>
          <a:solidFill>
            <a:srgbClr val="F4A259"/>
          </a:solidFill>
        </p:spPr>
      </p:sp>
      <p:sp>
        <p:nvSpPr>
          <p:cNvPr id="15" name="Shape 11"/>
          <p:cNvSpPr/>
          <p:nvPr/>
        </p:nvSpPr>
        <p:spPr>
          <a:xfrm>
            <a:off x="3730752" y="1828800"/>
            <a:ext cx="1481328" cy="1554480"/>
          </a:xfrm>
          <a:prstGeom prst="roundRect">
            <a:avLst>
              <a:gd name="adj" fmla="val 4321"/>
            </a:avLst>
          </a:prstGeom>
          <a:solidFill>
            <a:srgbClr val="E3F2F0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19956" y="1993392"/>
            <a:ext cx="502920" cy="50292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657" y="2114093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94760" y="2578608"/>
            <a:ext cx="13533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Goes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Sale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216652" y="2551176"/>
            <a:ext cx="91440" cy="45720"/>
          </a:xfrm>
          <a:prstGeom prst="rightArrow">
            <a:avLst/>
          </a:prstGeom>
          <a:solidFill>
            <a:srgbClr val="F4A259"/>
          </a:solidFill>
        </p:spPr>
      </p:sp>
      <p:sp>
        <p:nvSpPr>
          <p:cNvPr id="20" name="Shape 15"/>
          <p:cNvSpPr/>
          <p:nvPr/>
        </p:nvSpPr>
        <p:spPr>
          <a:xfrm>
            <a:off x="5321808" y="1828800"/>
            <a:ext cx="1481328" cy="1554480"/>
          </a:xfrm>
          <a:prstGeom prst="roundRect">
            <a:avLst>
              <a:gd name="adj" fmla="val 4321"/>
            </a:avLst>
          </a:prstGeom>
          <a:solidFill>
            <a:srgbClr val="F5FAF9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811012" y="1993392"/>
            <a:ext cx="502920" cy="50292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713" y="2114093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85816" y="2578608"/>
            <a:ext cx="13533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Post-Marketing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Surveillance (Phase IV)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807708" y="2551176"/>
            <a:ext cx="91440" cy="45720"/>
          </a:xfrm>
          <a:prstGeom prst="rightArrow">
            <a:avLst/>
          </a:prstGeom>
          <a:solidFill>
            <a:srgbClr val="F4A259"/>
          </a:solidFill>
        </p:spPr>
      </p:sp>
      <p:sp>
        <p:nvSpPr>
          <p:cNvPr id="25" name="Shape 19"/>
          <p:cNvSpPr/>
          <p:nvPr/>
        </p:nvSpPr>
        <p:spPr>
          <a:xfrm>
            <a:off x="6912864" y="1828800"/>
            <a:ext cx="1481328" cy="1554480"/>
          </a:xfrm>
          <a:prstGeom prst="roundRect">
            <a:avLst>
              <a:gd name="adj" fmla="val 4321"/>
            </a:avLst>
          </a:prstGeom>
          <a:solidFill>
            <a:srgbClr val="E3F2F0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402068" y="1993392"/>
            <a:ext cx="502920" cy="502920"/>
          </a:xfrm>
          <a:prstGeom prst="ellipse">
            <a:avLst/>
          </a:prstGeom>
          <a:solidFill>
            <a:srgbClr val="1B998B"/>
          </a:solidFill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2769" y="2114093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76872" y="2578608"/>
            <a:ext cx="13533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Adverse Event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48640" y="374904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0B3D3C"/>
          </a:solidFill>
        </p:spPr>
      </p:sp>
      <p:sp>
        <p:nvSpPr>
          <p:cNvPr id="30" name="Text 23"/>
          <p:cNvSpPr/>
          <p:nvPr/>
        </p:nvSpPr>
        <p:spPr>
          <a:xfrm>
            <a:off x="713232" y="3749040"/>
            <a:ext cx="2231136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Drug-Induced Side Effects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Companies must report any adverse reactions discovered after launch.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291840" y="374904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0B3D3C"/>
          </a:solidFill>
        </p:spPr>
      </p:sp>
      <p:sp>
        <p:nvSpPr>
          <p:cNvPr id="32" name="Text 25"/>
          <p:cNvSpPr/>
          <p:nvPr/>
        </p:nvSpPr>
        <p:spPr>
          <a:xfrm>
            <a:off x="3456432" y="3749040"/>
            <a:ext cx="2231136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Facility Inspections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Regulators inspect manufacturing sites regularly for GMP compliance.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035040" y="374904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0B3D3C"/>
          </a:solidFill>
        </p:spPr>
      </p:sp>
      <p:sp>
        <p:nvSpPr>
          <p:cNvPr id="34" name="Text 27"/>
          <p:cNvSpPr/>
          <p:nvPr/>
        </p:nvSpPr>
        <p:spPr>
          <a:xfrm>
            <a:off x="6199632" y="3749040"/>
            <a:ext cx="2231136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IV Trials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Long-term safety studies, especially for drugs used over extended periods.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Idea to Pharmacy: The Drug Development Funnel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05840" y="1143000"/>
            <a:ext cx="7132320" cy="502920"/>
          </a:xfrm>
          <a:prstGeom prst="roundRect">
            <a:avLst>
              <a:gd name="adj" fmla="val 10909"/>
            </a:avLst>
          </a:prstGeom>
          <a:solidFill>
            <a:srgbClr val="1B998B"/>
          </a:solidFill>
        </p:spPr>
      </p:sp>
      <p:sp>
        <p:nvSpPr>
          <p:cNvPr id="5" name="Text 3"/>
          <p:cNvSpPr/>
          <p:nvPr/>
        </p:nvSpPr>
        <p:spPr>
          <a:xfrm>
            <a:off x="1005840" y="1143000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~5,000–10,000 Compounds Screened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74520" y="1764792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2DAFA0"/>
          </a:solidFill>
        </p:spPr>
      </p:sp>
      <p:sp>
        <p:nvSpPr>
          <p:cNvPr id="7" name="Text 5"/>
          <p:cNvSpPr/>
          <p:nvPr/>
        </p:nvSpPr>
        <p:spPr>
          <a:xfrm>
            <a:off x="1874520" y="1764792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~250 Enter Preclinical Testing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386584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4A259"/>
          </a:solidFill>
        </p:spPr>
      </p:sp>
      <p:sp>
        <p:nvSpPr>
          <p:cNvPr id="9" name="Text 7"/>
          <p:cNvSpPr/>
          <p:nvPr/>
        </p:nvSpPr>
        <p:spPr>
          <a:xfrm>
            <a:off x="2743200" y="2386584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~5 Enter Clinical Trials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3008376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D166"/>
          </a:solidFill>
        </p:spPr>
      </p:sp>
      <p:sp>
        <p:nvSpPr>
          <p:cNvPr id="11" name="Text 9"/>
          <p:cNvSpPr/>
          <p:nvPr/>
        </p:nvSpPr>
        <p:spPr>
          <a:xfrm>
            <a:off x="3566160" y="300837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Approved Drug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739896"/>
            <a:ext cx="80467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Discovery (Stages 1–4) is knowledge-driven and increasingly powered by genomics &amp; proteomics.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 (Stages 5–7) establishes a safe, stable, characterized product before any human exposure.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Regulatory pathway (Stages 8–12) is rigorous by design — ~12 months for final FDA review alone.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journey: roughly 10–15 years and well over US$1 billion per approved biopharmaceutical.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6492240" y="548640"/>
            <a:ext cx="237744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6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214884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468880"/>
            <a:ext cx="530352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1960" y="2628900"/>
            <a:ext cx="6108065" cy="962025"/>
          </a:xfrm>
          <a:prstGeom prst="roundRect">
            <a:avLst>
              <a:gd name="adj" fmla="val 10909"/>
            </a:avLst>
          </a:prstGeom>
          <a:solidFill>
            <a:srgbClr val="1B998B"/>
          </a:solidFill>
        </p:spPr>
      </p:sp>
      <p:sp>
        <p:nvSpPr>
          <p:cNvPr id="9" name="Text 6"/>
          <p:cNvSpPr/>
          <p:nvPr/>
        </p:nvSpPr>
        <p:spPr>
          <a:xfrm>
            <a:off x="548640" y="2750820"/>
            <a:ext cx="5935980" cy="725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Mawlana Bhashani Science and Technology University    Dept. of Biotechnology &amp; Genetic Engineering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49640" y="477316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10571</Words>
  <Application>WPS Presentation</Application>
  <PresentationFormat>On-screen Show (16:9)</PresentationFormat>
  <Paragraphs>626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Drug Development Process</dc:title>
  <dc:creator>Dept. of Biotechnology &amp; Genetic Engineering, MBSTU</dc:creator>
  <dc:subject>PptxGenJS Presentation</dc:subject>
  <cp:lastModifiedBy>Md Mahmudul Hasan</cp:lastModifiedBy>
  <cp:revision>3</cp:revision>
  <dcterms:created xsi:type="dcterms:W3CDTF">2026-06-15T04:11:00Z</dcterms:created>
  <dcterms:modified xsi:type="dcterms:W3CDTF">2026-08-17T16:10:59Z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6E4A834876DA4A6CB716C2FF4642E157_13</vt:lpwstr>
  </property>
</Properties>
</file>